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'Buongiorno, il mio progetto si chiama TicketStadio, è un sistema di vendita biglietti per partite di calcio. È stato sviluppato come elaborato congiunto per tre esami — Ingegneria del Software, Basi di Dati e Ingegneria dei Sistemi Web — in modo da affrontare lo stesso dominio applicativo con tre prospettive tecniche diverse. In questa relazione mi concentrerò sugli aspetti di processo, architettura e qualità, propri di Ingegneria del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Inizio dal dominio applicativo. TicketStadio risolve un problema reale: in molte squadre minori la vendita biglietti passa ancora da rivenditori fisici. Ho scelto questo dominio perché è ricco di vincoli interessanti — soprattutto la doppia vendita di un posto, che richiede gestione corretta della concorrenza. I due ruoli (tifoso e admin) coprono due flussi UX completamente diversi e mi hanno permesso di implementare l'autorizzazione granulare.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Sottolineare onestamente che il progetto è individuale ma ho cercato di simulare la separazione dei ruoli per non confondere fasi diverse del lavoro. La giornata da Product Owner è dedicata a Trello e all'analisi senza toccare codice; la giornata da Tester si fa solo dopo aver scritto le funzionalità, con mentalità adversariale. Questo è un esercizio utile per non saltare la fase di analisi o di test, che è la trappola tipica dei progetti individuali.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quattro cerimonie Scrum sono adattate. Il Daily diventa un'auto-review di 5 minuti che mi serve per non perdere il filo. Lo Sprint Planning è guidato dalle card Trello: ne sposto 3-4 da Backlog a In Progress all'inizio della settimana. La Retrospective è documentata in SPRINT_LOG.md con tag come #fatto #problema #lezione, così se il prof mi chiede di mostrare un'evidenza concreta posso aprirla.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flusso principale ha 5 step. Il punto più delicato è lo step 3-4: tra la selezione del posto e il pagamento passa del tempo, durante il quale un altro utente potrebbe acquistare lo stesso posto. Per questo l'unicità (partita_id, posto_id) è enforced a livello DB con un vincolo UNIQUE, e il backend gestisce l'eccezione DataIntegrityViolationException convertendola in HTTP 409 con messaggio chiaro all'utente.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board Trello segue lo schema Kanban classico a 4 colonne. La colonna 'In Progress' è limitata a max 2 card per evitare il context switching, principio del WIP-limit. Tutte le 25 card 'Done' hanno un link al commit Git corrispondente nella descrizione. Mostrare al prof il link del board se lo chiede.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piramide del testing è rispettata: tanti unit test alla base (veloci, isolati), pochi integration test in cima (lenti ma realistici). Il framework usato per gli integration è MockMvc, che simula richieste HTTP senza avviare un vero server. Se il prof chiede 'mostrami un test', apro BigliettoServiceTest.acquista_promoSconto che è il più completo: setup con builder, mock dei repository, verifica del prezzo scontato e che il pagamento sia stato salvato.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livelli, un linguaggio per parlarne: separation of concerns. Il client non sa che il backend è in Java, il backend non sa che il DB è MySQL (potrebbe essere PostgreSQL cambiando solo il driver). Tra client e server c'è solo JSON su HTTP. La scelta di JS vanilla senza framework è didattica: dimostra di sapere DOM, fetch, localStorage senza nascondersi dietro React. Il pattern Repository è quello del Domain-Driven Design di Eric Evans: il service non sa che sotto c'è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funzionalità totali — 7 per il tifoso, 7 per l'admin. L'autorizzazione è granulare: ogni endpoint admin è protetto da @PreAuthorize('hasRole(ADMIN)') che Spring Security verifica prima di entrare nel metodo. Se un tifoso prova a chiamare un endpoint admin riceve 403 Forbidden. Il backend espone in totale circa 25 endpoint REST documentati automaticamente da Swagger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Concludo con un esempio concreto e un bilancio onesto. L'acquisto è la funzionalità rappresentativa perché tocca tutti i livelli architetturali: sicurezza, validazione, business logic, transazioni, vincoli DB. Il punto 8 in rosso è la lezione tecnica più importante del progetto: il controllo applicativo (existsByPartitaAndPosto) è una protezione ottimista, ma sotto carico concorrente potrebbe fallire. La vera garanzia è il vincolo UNIQUE DB che è atomico.
Sul feedback: essere onesti. Dire che farei TDD la prossima volta dimostra autocoscienza, non debolezza.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slideLayout" Target="../slideLayouts/slideLayout1.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548640" y="1463040"/>
            <a:ext cx="1280160" cy="1280160"/>
          </a:xfrm>
          <a:prstGeom prst="ellipse">
            <a:avLst/>
          </a:prstGeom>
          <a:solidFill>
            <a:srgbClr val="1A7A4A"/>
          </a:solidFill>
          <a:ln/>
        </p:spPr>
      </p:sp>
      <p:pic>
        <p:nvPicPr>
          <p:cNvPr id="3" name="Image 0" descr="preencoded.png">    </p:cNvPr>
          <p:cNvPicPr>
            <a:picLocks noChangeAspect="1"/>
          </p:cNvPicPr>
          <p:nvPr/>
        </p:nvPicPr>
        <p:blipFill>
          <a:blip r:embed="rId1"/>
          <a:stretch>
            <a:fillRect/>
          </a:stretch>
        </p:blipFill>
        <p:spPr>
          <a:xfrm>
            <a:off x="850392" y="1755648"/>
            <a:ext cx="685800" cy="685800"/>
          </a:xfrm>
          <a:prstGeom prst="rect">
            <a:avLst/>
          </a:prstGeom>
        </p:spPr>
      </p:pic>
      <p:sp>
        <p:nvSpPr>
          <p:cNvPr id="4" name="Text 1"/>
          <p:cNvSpPr/>
          <p:nvPr/>
        </p:nvSpPr>
        <p:spPr>
          <a:xfrm>
            <a:off x="2011680" y="1371600"/>
            <a:ext cx="68580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TicketStadio</a:t>
            </a:r>
            <a:endParaRPr lang="en-US" sz="5400" dirty="0"/>
          </a:p>
        </p:txBody>
      </p:sp>
      <p:sp>
        <p:nvSpPr>
          <p:cNvPr id="5" name="Text 2"/>
          <p:cNvSpPr/>
          <p:nvPr/>
        </p:nvSpPr>
        <p:spPr>
          <a:xfrm>
            <a:off x="2011680" y="2331720"/>
            <a:ext cx="6858000" cy="457200"/>
          </a:xfrm>
          <a:prstGeom prst="rect">
            <a:avLst/>
          </a:prstGeom>
          <a:noFill/>
          <a:ln/>
        </p:spPr>
        <p:txBody>
          <a:bodyPr wrap="square" lIns="0" tIns="0" rIns="0" bIns="0" rtlCol="0" anchor="ctr"/>
          <a:lstStyle/>
          <a:p>
            <a:pPr indent="0" marL="0">
              <a:buNone/>
            </a:pPr>
            <a:r>
              <a:rPr lang="en-US" sz="2000" i="1" dirty="0">
                <a:solidFill>
                  <a:srgbClr val="25A863"/>
                </a:solidFill>
                <a:latin typeface="Calibri" pitchFamily="34" charset="0"/>
                <a:ea typeface="Calibri" pitchFamily="34" charset="-122"/>
                <a:cs typeface="Calibri" pitchFamily="34" charset="-120"/>
              </a:rPr>
              <a:t>Sistema di vendita biglietti calcio</a:t>
            </a:r>
            <a:endParaRPr lang="en-US" sz="2000" dirty="0"/>
          </a:p>
        </p:txBody>
      </p:sp>
      <p:sp>
        <p:nvSpPr>
          <p:cNvPr id="6" name="Shape 3"/>
          <p:cNvSpPr/>
          <p:nvPr/>
        </p:nvSpPr>
        <p:spPr>
          <a:xfrm>
            <a:off x="548640" y="3154680"/>
            <a:ext cx="1280160" cy="36576"/>
          </a:xfrm>
          <a:prstGeom prst="rect">
            <a:avLst/>
          </a:prstGeom>
          <a:solidFill>
            <a:srgbClr val="25A863"/>
          </a:solidFill>
          <a:ln w="12700">
            <a:solidFill>
              <a:srgbClr val="25A863"/>
            </a:solidFill>
            <a:prstDash val="solid"/>
          </a:ln>
        </p:spPr>
      </p:sp>
      <p:sp>
        <p:nvSpPr>
          <p:cNvPr id="7" name="Text 4"/>
          <p:cNvSpPr/>
          <p:nvPr/>
        </p:nvSpPr>
        <p:spPr>
          <a:xfrm>
            <a:off x="548640" y="3383280"/>
            <a:ext cx="82296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Relazione di progetto — Ingegneria del Software</a:t>
            </a:r>
            <a:endParaRPr lang="en-US" sz="1800" dirty="0"/>
          </a:p>
        </p:txBody>
      </p:sp>
      <p:sp>
        <p:nvSpPr>
          <p:cNvPr id="8" name="Text 5"/>
          <p:cNvSpPr/>
          <p:nvPr/>
        </p:nvSpPr>
        <p:spPr>
          <a:xfrm>
            <a:off x="548640" y="3794760"/>
            <a:ext cx="8229600" cy="365760"/>
          </a:xfrm>
          <a:prstGeom prst="rect">
            <a:avLst/>
          </a:prstGeom>
          <a:noFill/>
          <a:ln/>
        </p:spPr>
        <p:txBody>
          <a:bodyPr wrap="square" lIns="0" tIns="0" rIns="0" bIns="0" rtlCol="0" anchor="ctr"/>
          <a:lstStyle/>
          <a:p>
            <a:pPr indent="0" marL="0">
              <a:buNone/>
            </a:pPr>
            <a:r>
              <a:rPr lang="en-US" sz="1400" dirty="0">
                <a:solidFill>
                  <a:srgbClr val="9CA3AF"/>
                </a:solidFill>
                <a:latin typeface="Calibri" pitchFamily="34" charset="0"/>
                <a:ea typeface="Calibri" pitchFamily="34" charset="-122"/>
                <a:cs typeface="Calibri" pitchFamily="34" charset="-120"/>
              </a:rPr>
              <a:t>Giacomo Panareo  ·  Università degli Studi di Ferrara</a:t>
            </a:r>
            <a:endParaRPr lang="en-US" sz="1400" dirty="0"/>
          </a:p>
        </p:txBody>
      </p:sp>
      <p:sp>
        <p:nvSpPr>
          <p:cNvPr id="9" name="Text 6"/>
          <p:cNvSpPr/>
          <p:nvPr/>
        </p:nvSpPr>
        <p:spPr>
          <a:xfrm>
            <a:off x="548640" y="4114800"/>
            <a:ext cx="822960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A.A. 2025/2026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365760" y="320040"/>
            <a:ext cx="7315200" cy="50292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Oggetto del progetto</a:t>
            </a:r>
            <a:endParaRPr lang="en-US" sz="2800" dirty="0"/>
          </a:p>
        </p:txBody>
      </p:sp>
      <p:sp>
        <p:nvSpPr>
          <p:cNvPr id="3" name="Text 1"/>
          <p:cNvSpPr/>
          <p:nvPr/>
        </p:nvSpPr>
        <p:spPr>
          <a:xfrm>
            <a:off x="365760" y="841248"/>
            <a:ext cx="8229600" cy="27432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Cosa fa TicketStadio</a:t>
            </a:r>
            <a:endParaRPr lang="en-US" sz="1300" dirty="0"/>
          </a:p>
        </p:txBody>
      </p:sp>
      <p:sp>
        <p:nvSpPr>
          <p:cNvPr id="4" name="Text 2"/>
          <p:cNvSpPr/>
          <p:nvPr/>
        </p:nvSpPr>
        <p:spPr>
          <a:xfrm>
            <a:off x="457200" y="1371600"/>
            <a:ext cx="5029200" cy="2011680"/>
          </a:xfrm>
          <a:prstGeom prst="rect">
            <a:avLst/>
          </a:prstGeom>
          <a:noFill/>
          <a:ln/>
        </p:spPr>
        <p:txBody>
          <a:bodyPr wrap="square" rtlCol="0" anchor="ctr"/>
          <a:lstStyle/>
          <a:p>
            <a:pPr indent="0" marL="0">
              <a:spcAft>
                <a:spcPts val="600"/>
              </a:spcAft>
              <a:buNone/>
            </a:pPr>
            <a:r>
              <a:rPr lang="en-US" sz="1300" dirty="0">
                <a:solidFill>
                  <a:srgbClr val="374151"/>
                </a:solidFill>
                <a:latin typeface="Calibri" pitchFamily="34" charset="0"/>
                <a:ea typeface="Calibri" pitchFamily="34" charset="-122"/>
                <a:cs typeface="Calibri" pitchFamily="34" charset="-120"/>
              </a:rPr>
              <a:t>TicketStadio è una web application per la vendita online di biglietti per partite di calcio di uno specifico stadio. Gli utenti registrati possono consultare il calendario delle partite, scegliere un posto numerato sulla mappa del settore, applicare codici promozionali e finalizzare l'acquisto. È previsto un pannello amministrativo per la gestione di partite, promozioni e statistiche di vendita.</a:t>
            </a:r>
            <a:endParaRPr lang="en-US" sz="1300" dirty="0"/>
          </a:p>
        </p:txBody>
      </p:sp>
      <p:sp>
        <p:nvSpPr>
          <p:cNvPr id="5" name="Shape 3"/>
          <p:cNvSpPr/>
          <p:nvPr/>
        </p:nvSpPr>
        <p:spPr>
          <a:xfrm>
            <a:off x="457200" y="3520440"/>
            <a:ext cx="5029200" cy="1234440"/>
          </a:xfrm>
          <a:prstGeom prst="roundRect">
            <a:avLst>
              <a:gd name="adj" fmla="val 4444"/>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sp>
        <p:nvSpPr>
          <p:cNvPr id="6" name="Text 4"/>
          <p:cNvSpPr/>
          <p:nvPr/>
        </p:nvSpPr>
        <p:spPr>
          <a:xfrm>
            <a:off x="640080" y="3611880"/>
            <a:ext cx="4754880" cy="274320"/>
          </a:xfrm>
          <a:prstGeom prst="rect">
            <a:avLst/>
          </a:prstGeom>
          <a:noFill/>
          <a:ln/>
        </p:spPr>
        <p:txBody>
          <a:bodyPr wrap="square" lIns="0" tIns="0" rIns="0" bIns="0" rtlCol="0" anchor="ctr"/>
          <a:lstStyle/>
          <a:p>
            <a:pPr indent="0" marL="0">
              <a:buNone/>
            </a:pPr>
            <a:r>
              <a:rPr lang="en-US" sz="1100" b="1" dirty="0">
                <a:solidFill>
                  <a:srgbClr val="1A7A4A"/>
                </a:solidFill>
                <a:latin typeface="Calibri" pitchFamily="34" charset="0"/>
                <a:ea typeface="Calibri" pitchFamily="34" charset="-122"/>
                <a:cs typeface="Calibri" pitchFamily="34" charset="-120"/>
              </a:rPr>
              <a:t>Stack tecnologico</a:t>
            </a:r>
            <a:endParaRPr lang="en-US" sz="1100" dirty="0"/>
          </a:p>
        </p:txBody>
      </p:sp>
      <p:sp>
        <p:nvSpPr>
          <p:cNvPr id="7" name="Text 5"/>
          <p:cNvSpPr/>
          <p:nvPr/>
        </p:nvSpPr>
        <p:spPr>
          <a:xfrm>
            <a:off x="640080" y="3886200"/>
            <a:ext cx="4754880" cy="822960"/>
          </a:xfrm>
          <a:prstGeom prst="rect">
            <a:avLst/>
          </a:prstGeom>
          <a:noFill/>
          <a:ln/>
        </p:spPr>
        <p:txBody>
          <a:bodyPr wrap="square" rtlCol="0" anchor="ctr"/>
          <a:lstStyle/>
          <a:p>
            <a:pPr indent="0" marL="0">
              <a:spcAft>
                <a:spcPts val="200"/>
              </a:spcAft>
              <a:buNone/>
            </a:pPr>
            <a:r>
              <a:rPr lang="en-US" sz="1100" b="1" dirty="0">
                <a:solidFill>
                  <a:srgbClr val="111827"/>
                </a:solidFill>
                <a:latin typeface="Calibri" pitchFamily="34" charset="0"/>
                <a:ea typeface="Calibri" pitchFamily="34" charset="-122"/>
                <a:cs typeface="Calibri" pitchFamily="34" charset="-120"/>
              </a:rPr>
              <a:t>Backend: </a:t>
            </a:r>
            <a:pPr indent="0" marL="0">
              <a:spcAft>
                <a:spcPts val="200"/>
              </a:spcAft>
              <a:buNone/>
            </a:pPr>
            <a:r>
              <a:rPr lang="en-US" sz="1100" dirty="0">
                <a:solidFill>
                  <a:srgbClr val="374151"/>
                </a:solidFill>
                <a:latin typeface="Calibri" pitchFamily="34" charset="0"/>
                <a:ea typeface="Calibri" pitchFamily="34" charset="-122"/>
                <a:cs typeface="Calibri" pitchFamily="34" charset="-120"/>
              </a:rPr>
              <a:t>Java 17, Spring Boot 3.2, JPA, JWT</a:t>
            </a:r>
            <a:endParaRPr lang="en-US" sz="1100" dirty="0"/>
          </a:p>
          <a:p>
            <a:pPr indent="0" marL="0">
              <a:spcAft>
                <a:spcPts val="200"/>
              </a:spcAft>
              <a:buNone/>
            </a:pPr>
            <a:r>
              <a:rPr lang="en-US" sz="1100" b="1" dirty="0">
                <a:solidFill>
                  <a:srgbClr val="111827"/>
                </a:solidFill>
                <a:latin typeface="Calibri" pitchFamily="34" charset="0"/>
                <a:ea typeface="Calibri" pitchFamily="34" charset="-122"/>
                <a:cs typeface="Calibri" pitchFamily="34" charset="-120"/>
              </a:rPr>
              <a:t>Database: </a:t>
            </a:r>
            <a:pPr indent="0" marL="0">
              <a:spcAft>
                <a:spcPts val="200"/>
              </a:spcAft>
              <a:buNone/>
            </a:pPr>
            <a:r>
              <a:rPr lang="en-US" sz="1100" dirty="0">
                <a:solidFill>
                  <a:srgbClr val="374151"/>
                </a:solidFill>
                <a:latin typeface="Calibri" pitchFamily="34" charset="0"/>
                <a:ea typeface="Calibri" pitchFamily="34" charset="-122"/>
                <a:cs typeface="Calibri" pitchFamily="34" charset="-120"/>
              </a:rPr>
              <a:t>MySQL 8.0 (InnoDB, utf8mb4)</a:t>
            </a:r>
            <a:endParaRPr lang="en-US" sz="1100" dirty="0"/>
          </a:p>
          <a:p>
            <a:pPr indent="0" marL="0">
              <a:spcAft>
                <a:spcPts val="200"/>
              </a:spcAft>
              <a:buNone/>
            </a:pPr>
            <a:r>
              <a:rPr lang="en-US" sz="1100" b="1" dirty="0">
                <a:solidFill>
                  <a:srgbClr val="111827"/>
                </a:solidFill>
                <a:latin typeface="Calibri" pitchFamily="34" charset="0"/>
                <a:ea typeface="Calibri" pitchFamily="34" charset="-122"/>
                <a:cs typeface="Calibri" pitchFamily="34" charset="-120"/>
              </a:rPr>
              <a:t>Frontend: </a:t>
            </a:r>
            <a:pPr indent="0" marL="0">
              <a:spcAft>
                <a:spcPts val="200"/>
              </a:spcAft>
              <a:buNone/>
            </a:pPr>
            <a:r>
              <a:rPr lang="en-US" sz="1100" dirty="0">
                <a:solidFill>
                  <a:srgbClr val="374151"/>
                </a:solidFill>
                <a:latin typeface="Calibri" pitchFamily="34" charset="0"/>
                <a:ea typeface="Calibri" pitchFamily="34" charset="-122"/>
                <a:cs typeface="Calibri" pitchFamily="34" charset="-120"/>
              </a:rPr>
              <a:t>HTML5, CSS3, JavaScript vanilla</a:t>
            </a:r>
            <a:endParaRPr lang="en-US" sz="1100" dirty="0"/>
          </a:p>
          <a:p>
            <a:pPr indent="0" marL="0">
              <a:spcAft>
                <a:spcPts val="200"/>
              </a:spcAft>
              <a:buNone/>
            </a:pPr>
            <a:r>
              <a:rPr lang="en-US" sz="1100" b="1" dirty="0">
                <a:solidFill>
                  <a:srgbClr val="111827"/>
                </a:solidFill>
                <a:latin typeface="Calibri" pitchFamily="34" charset="0"/>
                <a:ea typeface="Calibri" pitchFamily="34" charset="-122"/>
                <a:cs typeface="Calibri" pitchFamily="34" charset="-120"/>
              </a:rPr>
              <a:t>Test: </a:t>
            </a:r>
            <a:pPr indent="0" marL="0">
              <a:spcAft>
                <a:spcPts val="200"/>
              </a:spcAft>
              <a:buNone/>
            </a:pPr>
            <a:r>
              <a:rPr lang="en-US" sz="1100" dirty="0">
                <a:solidFill>
                  <a:srgbClr val="374151"/>
                </a:solidFill>
                <a:latin typeface="Calibri" pitchFamily="34" charset="0"/>
                <a:ea typeface="Calibri" pitchFamily="34" charset="-122"/>
                <a:cs typeface="Calibri" pitchFamily="34" charset="-120"/>
              </a:rPr>
              <a:t>JUnit 5, Mockito, H2 in-memory</a:t>
            </a:r>
            <a:endParaRPr lang="en-US" sz="1100" dirty="0"/>
          </a:p>
        </p:txBody>
      </p:sp>
      <p:sp>
        <p:nvSpPr>
          <p:cNvPr id="8" name="Shape 6"/>
          <p:cNvSpPr/>
          <p:nvPr/>
        </p:nvSpPr>
        <p:spPr>
          <a:xfrm>
            <a:off x="5760720" y="1371600"/>
            <a:ext cx="3017520" cy="3383280"/>
          </a:xfrm>
          <a:prstGeom prst="roundRect">
            <a:avLst>
              <a:gd name="adj" fmla="val 2424"/>
            </a:avLst>
          </a:prstGeom>
          <a:solidFill>
            <a:srgbClr val="1A7A4A"/>
          </a:solidFill>
          <a:ln w="12700">
            <a:solidFill>
              <a:srgbClr val="1A7A4A"/>
            </a:solidFill>
            <a:prstDash val="solid"/>
          </a:ln>
          <a:effectLst>
            <a:outerShdw sx="100000" sy="100000" kx="0" ky="0" algn="bl" rotWithShape="0" blurRad="101600" dist="25400" dir="5400000">
              <a:srgbClr val="000000">
                <a:alpha val="10000"/>
              </a:srgbClr>
            </a:outerShdw>
          </a:effectLst>
        </p:spPr>
      </p:sp>
      <p:pic>
        <p:nvPicPr>
          <p:cNvPr id="9" name="Image 0" descr="preencoded.png">    </p:cNvPr>
          <p:cNvPicPr>
            <a:picLocks noChangeAspect="1"/>
          </p:cNvPicPr>
          <p:nvPr/>
        </p:nvPicPr>
        <p:blipFill>
          <a:blip r:embed="rId1"/>
          <a:stretch>
            <a:fillRect/>
          </a:stretch>
        </p:blipFill>
        <p:spPr>
          <a:xfrm>
            <a:off x="5989320" y="1554480"/>
            <a:ext cx="411480" cy="411480"/>
          </a:xfrm>
          <a:prstGeom prst="rect">
            <a:avLst/>
          </a:prstGeom>
        </p:spPr>
      </p:pic>
      <p:sp>
        <p:nvSpPr>
          <p:cNvPr id="10" name="Text 7"/>
          <p:cNvSpPr/>
          <p:nvPr/>
        </p:nvSpPr>
        <p:spPr>
          <a:xfrm>
            <a:off x="6492240" y="1554480"/>
            <a:ext cx="219456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Utenti target</a:t>
            </a:r>
            <a:endParaRPr lang="en-US" sz="1400" dirty="0"/>
          </a:p>
        </p:txBody>
      </p:sp>
      <p:sp>
        <p:nvSpPr>
          <p:cNvPr id="11" name="Text 8"/>
          <p:cNvSpPr/>
          <p:nvPr/>
        </p:nvSpPr>
        <p:spPr>
          <a:xfrm>
            <a:off x="5989320" y="2194560"/>
            <a:ext cx="2651760" cy="274320"/>
          </a:xfrm>
          <a:prstGeom prst="rect">
            <a:avLst/>
          </a:prstGeom>
          <a:noFill/>
          <a:ln/>
        </p:spPr>
        <p:txBody>
          <a:bodyPr wrap="square" lIns="0" tIns="0" rIns="0" bIns="0" rtlCol="0" anchor="ctr"/>
          <a:lstStyle/>
          <a:p>
            <a:pPr indent="0" marL="0">
              <a:buNone/>
            </a:pPr>
            <a:r>
              <a:rPr lang="en-US" sz="1200" b="1" dirty="0">
                <a:solidFill>
                  <a:srgbClr val="E8F5EE"/>
                </a:solidFill>
                <a:latin typeface="Calibri" pitchFamily="34" charset="0"/>
                <a:ea typeface="Calibri" pitchFamily="34" charset="-122"/>
                <a:cs typeface="Calibri" pitchFamily="34" charset="-120"/>
              </a:rPr>
              <a:t>TIFOSO</a:t>
            </a:r>
            <a:endParaRPr lang="en-US" sz="1200" dirty="0"/>
          </a:p>
        </p:txBody>
      </p:sp>
      <p:sp>
        <p:nvSpPr>
          <p:cNvPr id="12" name="Text 9"/>
          <p:cNvSpPr/>
          <p:nvPr/>
        </p:nvSpPr>
        <p:spPr>
          <a:xfrm>
            <a:off x="5989320" y="2468880"/>
            <a:ext cx="2651760" cy="7315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Acquista biglietti singoli, sottoscrive abbonamenti, applica promozioni.</a:t>
            </a:r>
            <a:endParaRPr lang="en-US" sz="1000" dirty="0"/>
          </a:p>
        </p:txBody>
      </p:sp>
      <p:sp>
        <p:nvSpPr>
          <p:cNvPr id="13" name="Text 10"/>
          <p:cNvSpPr/>
          <p:nvPr/>
        </p:nvSpPr>
        <p:spPr>
          <a:xfrm>
            <a:off x="5989320" y="3337560"/>
            <a:ext cx="2651760" cy="274320"/>
          </a:xfrm>
          <a:prstGeom prst="rect">
            <a:avLst/>
          </a:prstGeom>
          <a:noFill/>
          <a:ln/>
        </p:spPr>
        <p:txBody>
          <a:bodyPr wrap="square" lIns="0" tIns="0" rIns="0" bIns="0" rtlCol="0" anchor="ctr"/>
          <a:lstStyle/>
          <a:p>
            <a:pPr indent="0" marL="0">
              <a:buNone/>
            </a:pPr>
            <a:r>
              <a:rPr lang="en-US" sz="1200" b="1" dirty="0">
                <a:solidFill>
                  <a:srgbClr val="E8F5EE"/>
                </a:solidFill>
                <a:latin typeface="Calibri" pitchFamily="34" charset="0"/>
                <a:ea typeface="Calibri" pitchFamily="34" charset="-122"/>
                <a:cs typeface="Calibri" pitchFamily="34" charset="-120"/>
              </a:rPr>
              <a:t>ADMIN</a:t>
            </a:r>
            <a:endParaRPr lang="en-US" sz="1200" dirty="0"/>
          </a:p>
        </p:txBody>
      </p:sp>
      <p:sp>
        <p:nvSpPr>
          <p:cNvPr id="14" name="Text 11"/>
          <p:cNvSpPr/>
          <p:nvPr/>
        </p:nvSpPr>
        <p:spPr>
          <a:xfrm>
            <a:off x="5989320" y="3611880"/>
            <a:ext cx="2651760" cy="7315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Gestisce calendario partite, crea codici sconto, monitora le vendite.</a:t>
            </a:r>
            <a:endParaRPr lang="en-US" sz="1000" dirty="0"/>
          </a:p>
        </p:txBody>
      </p:sp>
      <p:sp>
        <p:nvSpPr>
          <p:cNvPr id="15" name="Text 12"/>
          <p:cNvSpPr/>
          <p:nvPr/>
        </p:nvSpPr>
        <p:spPr>
          <a:xfrm>
            <a:off x="365760" y="4823460"/>
            <a:ext cx="54864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TicketStadio · Ingegneria del Software</a:t>
            </a:r>
            <a:endParaRPr lang="en-US" sz="900" dirty="0"/>
          </a:p>
        </p:txBody>
      </p:sp>
      <p:sp>
        <p:nvSpPr>
          <p:cNvPr id="16" name="Text 13"/>
          <p:cNvSpPr/>
          <p:nvPr/>
        </p:nvSpPr>
        <p:spPr>
          <a:xfrm>
            <a:off x="8229600" y="4823460"/>
            <a:ext cx="54864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365760" y="320040"/>
            <a:ext cx="7315200" cy="50292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Distribuzione del team</a:t>
            </a:r>
            <a:endParaRPr lang="en-US" sz="2800" dirty="0"/>
          </a:p>
        </p:txBody>
      </p:sp>
      <p:sp>
        <p:nvSpPr>
          <p:cNvPr id="3" name="Text 1"/>
          <p:cNvSpPr/>
          <p:nvPr/>
        </p:nvSpPr>
        <p:spPr>
          <a:xfrm>
            <a:off x="365760" y="841248"/>
            <a:ext cx="8229600" cy="27432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Progetto individuale — tutti i ruoli ricoperti dallo studente</a:t>
            </a:r>
            <a:endParaRPr lang="en-US" sz="1300" dirty="0"/>
          </a:p>
        </p:txBody>
      </p:sp>
      <p:sp>
        <p:nvSpPr>
          <p:cNvPr id="4" name="Shape 2"/>
          <p:cNvSpPr/>
          <p:nvPr/>
        </p:nvSpPr>
        <p:spPr>
          <a:xfrm>
            <a:off x="457200" y="1371600"/>
            <a:ext cx="4023360" cy="1417320"/>
          </a:xfrm>
          <a:prstGeom prst="roundRect">
            <a:avLst>
              <a:gd name="adj" fmla="val 3871"/>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640080" y="1554480"/>
            <a:ext cx="411480" cy="411480"/>
          </a:xfrm>
          <a:prstGeom prst="rect">
            <a:avLst/>
          </a:prstGeom>
        </p:spPr>
      </p:pic>
      <p:sp>
        <p:nvSpPr>
          <p:cNvPr id="6" name="Text 3"/>
          <p:cNvSpPr/>
          <p:nvPr/>
        </p:nvSpPr>
        <p:spPr>
          <a:xfrm>
            <a:off x="1143000" y="1554480"/>
            <a:ext cx="3200400" cy="41148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Product Owner</a:t>
            </a:r>
            <a:endParaRPr lang="en-US" sz="1400" dirty="0"/>
          </a:p>
        </p:txBody>
      </p:sp>
      <p:sp>
        <p:nvSpPr>
          <p:cNvPr id="7" name="Text 4"/>
          <p:cNvSpPr/>
          <p:nvPr/>
        </p:nvSpPr>
        <p:spPr>
          <a:xfrm>
            <a:off x="640080" y="2057400"/>
            <a:ext cx="3657600" cy="64008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Analisi requisiti, scrittura user stories, priorità del backlog.</a:t>
            </a:r>
            <a:endParaRPr lang="en-US" sz="1100" dirty="0"/>
          </a:p>
        </p:txBody>
      </p:sp>
      <p:sp>
        <p:nvSpPr>
          <p:cNvPr id="8" name="Shape 5"/>
          <p:cNvSpPr/>
          <p:nvPr/>
        </p:nvSpPr>
        <p:spPr>
          <a:xfrm>
            <a:off x="4754880" y="1371600"/>
            <a:ext cx="4023360" cy="1417320"/>
          </a:xfrm>
          <a:prstGeom prst="roundRect">
            <a:avLst>
              <a:gd name="adj" fmla="val 3871"/>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4937760" y="1554480"/>
            <a:ext cx="411480" cy="411480"/>
          </a:xfrm>
          <a:prstGeom prst="rect">
            <a:avLst/>
          </a:prstGeom>
        </p:spPr>
      </p:pic>
      <p:sp>
        <p:nvSpPr>
          <p:cNvPr id="10" name="Text 6"/>
          <p:cNvSpPr/>
          <p:nvPr/>
        </p:nvSpPr>
        <p:spPr>
          <a:xfrm>
            <a:off x="5440680" y="1554480"/>
            <a:ext cx="3200400" cy="41148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Sviluppatore</a:t>
            </a:r>
            <a:endParaRPr lang="en-US" sz="1400" dirty="0"/>
          </a:p>
        </p:txBody>
      </p:sp>
      <p:sp>
        <p:nvSpPr>
          <p:cNvPr id="11" name="Text 7"/>
          <p:cNvSpPr/>
          <p:nvPr/>
        </p:nvSpPr>
        <p:spPr>
          <a:xfrm>
            <a:off x="4937760" y="2057400"/>
            <a:ext cx="3657600" cy="64008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Implementazione backend Spring Boot, frontend vanilla JS, schema DB.</a:t>
            </a:r>
            <a:endParaRPr lang="en-US" sz="1100" dirty="0"/>
          </a:p>
        </p:txBody>
      </p:sp>
      <p:sp>
        <p:nvSpPr>
          <p:cNvPr id="12" name="Shape 8"/>
          <p:cNvSpPr/>
          <p:nvPr/>
        </p:nvSpPr>
        <p:spPr>
          <a:xfrm>
            <a:off x="457200" y="3017520"/>
            <a:ext cx="4023360" cy="1417320"/>
          </a:xfrm>
          <a:prstGeom prst="roundRect">
            <a:avLst>
              <a:gd name="adj" fmla="val 3871"/>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640080" y="3200400"/>
            <a:ext cx="411480" cy="411480"/>
          </a:xfrm>
          <a:prstGeom prst="rect">
            <a:avLst/>
          </a:prstGeom>
        </p:spPr>
      </p:pic>
      <p:sp>
        <p:nvSpPr>
          <p:cNvPr id="14" name="Text 9"/>
          <p:cNvSpPr/>
          <p:nvPr/>
        </p:nvSpPr>
        <p:spPr>
          <a:xfrm>
            <a:off x="1143000" y="3200400"/>
            <a:ext cx="3200400" cy="41148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QA Tester</a:t>
            </a:r>
            <a:endParaRPr lang="en-US" sz="1400" dirty="0"/>
          </a:p>
        </p:txBody>
      </p:sp>
      <p:sp>
        <p:nvSpPr>
          <p:cNvPr id="15" name="Text 10"/>
          <p:cNvSpPr/>
          <p:nvPr/>
        </p:nvSpPr>
        <p:spPr>
          <a:xfrm>
            <a:off x="640080" y="3703320"/>
            <a:ext cx="3657600" cy="64008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Scrittura test JUnit, definizione casi limite, verifica copertura.</a:t>
            </a:r>
            <a:endParaRPr lang="en-US" sz="1100" dirty="0"/>
          </a:p>
        </p:txBody>
      </p:sp>
      <p:sp>
        <p:nvSpPr>
          <p:cNvPr id="16" name="Shape 11"/>
          <p:cNvSpPr/>
          <p:nvPr/>
        </p:nvSpPr>
        <p:spPr>
          <a:xfrm>
            <a:off x="4754880" y="3017520"/>
            <a:ext cx="4023360" cy="1417320"/>
          </a:xfrm>
          <a:prstGeom prst="roundRect">
            <a:avLst>
              <a:gd name="adj" fmla="val 3871"/>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4937760" y="3200400"/>
            <a:ext cx="411480" cy="411480"/>
          </a:xfrm>
          <a:prstGeom prst="rect">
            <a:avLst/>
          </a:prstGeom>
        </p:spPr>
      </p:pic>
      <p:sp>
        <p:nvSpPr>
          <p:cNvPr id="18" name="Text 12"/>
          <p:cNvSpPr/>
          <p:nvPr/>
        </p:nvSpPr>
        <p:spPr>
          <a:xfrm>
            <a:off x="5440680" y="3200400"/>
            <a:ext cx="3200400" cy="41148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DevOps</a:t>
            </a:r>
            <a:endParaRPr lang="en-US" sz="1400" dirty="0"/>
          </a:p>
        </p:txBody>
      </p:sp>
      <p:sp>
        <p:nvSpPr>
          <p:cNvPr id="19" name="Text 13"/>
          <p:cNvSpPr/>
          <p:nvPr/>
        </p:nvSpPr>
        <p:spPr>
          <a:xfrm>
            <a:off x="4937760" y="3703320"/>
            <a:ext cx="3657600" cy="64008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Setup ambiente, Dockerfile, gestione repository Git, dump del DB.</a:t>
            </a:r>
            <a:endParaRPr lang="en-US" sz="1100" dirty="0"/>
          </a:p>
        </p:txBody>
      </p:sp>
      <p:sp>
        <p:nvSpPr>
          <p:cNvPr id="20" name="Text 14"/>
          <p:cNvSpPr/>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Nota: il lavoro è stato organizzato in giornate dedicate (analisi/PO, implementazione, testing) per simulare i diversi ruoli.</a:t>
            </a:r>
            <a:endParaRPr lang="en-US" sz="1000" dirty="0"/>
          </a:p>
        </p:txBody>
      </p:sp>
      <p:sp>
        <p:nvSpPr>
          <p:cNvPr id="21" name="Text 15"/>
          <p:cNvSpPr/>
          <p:nvPr/>
        </p:nvSpPr>
        <p:spPr>
          <a:xfrm>
            <a:off x="365760" y="4823460"/>
            <a:ext cx="54864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TicketStadio · Ingegneria del Software</a:t>
            </a:r>
            <a:endParaRPr lang="en-US" sz="900" dirty="0"/>
          </a:p>
        </p:txBody>
      </p:sp>
      <p:sp>
        <p:nvSpPr>
          <p:cNvPr id="22" name="Text 16"/>
          <p:cNvSpPr/>
          <p:nvPr/>
        </p:nvSpPr>
        <p:spPr>
          <a:xfrm>
            <a:off x="8229600" y="4823460"/>
            <a:ext cx="54864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365760" y="320040"/>
            <a:ext cx="7315200" cy="50292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Evidenze delle cerimonie</a:t>
            </a:r>
            <a:endParaRPr lang="en-US" sz="2800" dirty="0"/>
          </a:p>
        </p:txBody>
      </p:sp>
      <p:sp>
        <p:nvSpPr>
          <p:cNvPr id="3" name="Text 1"/>
          <p:cNvSpPr/>
          <p:nvPr/>
        </p:nvSpPr>
        <p:spPr>
          <a:xfrm>
            <a:off x="365760" y="841248"/>
            <a:ext cx="8229600" cy="27432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Processo Scrum adattato a progetto individuale</a:t>
            </a:r>
            <a:endParaRPr lang="en-US" sz="1300" dirty="0"/>
          </a:p>
        </p:txBody>
      </p:sp>
      <p:sp>
        <p:nvSpPr>
          <p:cNvPr id="4" name="Shape 2"/>
          <p:cNvSpPr/>
          <p:nvPr/>
        </p:nvSpPr>
        <p:spPr>
          <a:xfrm>
            <a:off x="1143000" y="1417320"/>
            <a:ext cx="640080" cy="640080"/>
          </a:xfrm>
          <a:prstGeom prst="ellipse">
            <a:avLst/>
          </a:prstGeom>
          <a:solidFill>
            <a:srgbClr val="E8F5EE"/>
          </a:solidFill>
          <a:ln w="19050">
            <a:solidFill>
              <a:srgbClr val="1A7A4A"/>
            </a:solidFill>
            <a:prstDash val="solid"/>
          </a:ln>
        </p:spPr>
      </p:sp>
      <p:pic>
        <p:nvPicPr>
          <p:cNvPr id="5" name="Image 0" descr="preencoded.png">    </p:cNvPr>
          <p:cNvPicPr>
            <a:picLocks noChangeAspect="1"/>
          </p:cNvPicPr>
          <p:nvPr/>
        </p:nvPicPr>
        <p:blipFill>
          <a:blip r:embed="rId1"/>
          <a:stretch>
            <a:fillRect/>
          </a:stretch>
        </p:blipFill>
        <p:spPr>
          <a:xfrm>
            <a:off x="1280160" y="1554480"/>
            <a:ext cx="365760" cy="365760"/>
          </a:xfrm>
          <a:prstGeom prst="rect">
            <a:avLst/>
          </a:prstGeom>
        </p:spPr>
      </p:pic>
      <p:sp>
        <p:nvSpPr>
          <p:cNvPr id="6" name="Shape 3"/>
          <p:cNvSpPr/>
          <p:nvPr/>
        </p:nvSpPr>
        <p:spPr>
          <a:xfrm>
            <a:off x="411480" y="2286000"/>
            <a:ext cx="2103120" cy="2286000"/>
          </a:xfrm>
          <a:prstGeom prst="roundRect">
            <a:avLst>
              <a:gd name="adj" fmla="val 2609"/>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sp>
        <p:nvSpPr>
          <p:cNvPr id="7" name="Text 4"/>
          <p:cNvSpPr/>
          <p:nvPr/>
        </p:nvSpPr>
        <p:spPr>
          <a:xfrm>
            <a:off x="502920" y="2377440"/>
            <a:ext cx="1920240" cy="320040"/>
          </a:xfrm>
          <a:prstGeom prst="rect">
            <a:avLst/>
          </a:prstGeom>
          <a:noFill/>
          <a:ln/>
        </p:spPr>
        <p:txBody>
          <a:bodyPr wrap="square" lIns="0" tIns="0" rIns="0" bIns="0" rtlCol="0" anchor="ctr"/>
          <a:lstStyle/>
          <a:p>
            <a:pPr algn="ctr" indent="0" marL="0">
              <a:buNone/>
            </a:pPr>
            <a:r>
              <a:rPr lang="en-US" sz="1300" b="1" dirty="0">
                <a:solidFill>
                  <a:srgbClr val="111827"/>
                </a:solidFill>
                <a:latin typeface="Calibri" pitchFamily="34" charset="0"/>
                <a:ea typeface="Calibri" pitchFamily="34" charset="-122"/>
                <a:cs typeface="Calibri" pitchFamily="34" charset="-120"/>
              </a:rPr>
              <a:t>Sprint Planning</a:t>
            </a:r>
            <a:endParaRPr lang="en-US" sz="1300" dirty="0"/>
          </a:p>
        </p:txBody>
      </p:sp>
      <p:sp>
        <p:nvSpPr>
          <p:cNvPr id="8" name="Text 5"/>
          <p:cNvSpPr/>
          <p:nvPr/>
        </p:nvSpPr>
        <p:spPr>
          <a:xfrm>
            <a:off x="502920" y="2697480"/>
            <a:ext cx="1920240" cy="228600"/>
          </a:xfrm>
          <a:prstGeom prst="rect">
            <a:avLst/>
          </a:prstGeom>
          <a:noFill/>
          <a:ln/>
        </p:spPr>
        <p:txBody>
          <a:bodyPr wrap="square" lIns="0" tIns="0" rIns="0" bIns="0" rtlCol="0" anchor="ctr"/>
          <a:lstStyle/>
          <a:p>
            <a:pPr algn="ctr" indent="0" marL="0">
              <a:buNone/>
            </a:pPr>
            <a:r>
              <a:rPr lang="en-US" sz="900" i="1" dirty="0">
                <a:solidFill>
                  <a:srgbClr val="1A7A4A"/>
                </a:solidFill>
                <a:latin typeface="Calibri" pitchFamily="34" charset="0"/>
                <a:ea typeface="Calibri" pitchFamily="34" charset="-122"/>
                <a:cs typeface="Calibri" pitchFamily="34" charset="-120"/>
              </a:rPr>
              <a:t>Inizio settimana</a:t>
            </a:r>
            <a:endParaRPr lang="en-US" sz="900" dirty="0"/>
          </a:p>
        </p:txBody>
      </p:sp>
      <p:sp>
        <p:nvSpPr>
          <p:cNvPr id="9" name="Text 6"/>
          <p:cNvSpPr/>
          <p:nvPr/>
        </p:nvSpPr>
        <p:spPr>
          <a:xfrm>
            <a:off x="548640" y="3017520"/>
            <a:ext cx="1828800" cy="1371600"/>
          </a:xfrm>
          <a:prstGeom prst="rect">
            <a:avLst/>
          </a:prstGeom>
          <a:noFill/>
          <a:ln/>
        </p:spPr>
        <p:txBody>
          <a:bodyPr wrap="square" lIns="0" tIns="0" rIns="0" bIns="0" rtlCol="0" anchor="ctr"/>
          <a:lstStyle/>
          <a:p>
            <a:pPr algn="l" indent="0" marL="0">
              <a:buNone/>
            </a:pPr>
            <a:r>
              <a:rPr lang="en-US" sz="1000" dirty="0">
                <a:solidFill>
                  <a:srgbClr val="374151"/>
                </a:solidFill>
                <a:latin typeface="Calibri" pitchFamily="34" charset="0"/>
                <a:ea typeface="Calibri" pitchFamily="34" charset="-122"/>
                <a:cs typeface="Calibri" pitchFamily="34" charset="-120"/>
              </a:rPr>
              <a:t>Definizione obiettivi della settimana e selezione card da "Backlog" a "In progress".</a:t>
            </a:r>
            <a:endParaRPr lang="en-US" sz="1000" dirty="0"/>
          </a:p>
        </p:txBody>
      </p:sp>
      <p:sp>
        <p:nvSpPr>
          <p:cNvPr id="10" name="Shape 7"/>
          <p:cNvSpPr/>
          <p:nvPr/>
        </p:nvSpPr>
        <p:spPr>
          <a:xfrm>
            <a:off x="3337560" y="1417320"/>
            <a:ext cx="640080" cy="640080"/>
          </a:xfrm>
          <a:prstGeom prst="ellipse">
            <a:avLst/>
          </a:prstGeom>
          <a:solidFill>
            <a:srgbClr val="E8F5EE"/>
          </a:solidFill>
          <a:ln w="19050">
            <a:solidFill>
              <a:srgbClr val="1A7A4A"/>
            </a:solidFill>
            <a:prstDash val="solid"/>
          </a:ln>
        </p:spPr>
      </p:sp>
      <p:pic>
        <p:nvPicPr>
          <p:cNvPr id="11" name="Image 1" descr="preencoded.png">    </p:cNvPr>
          <p:cNvPicPr>
            <a:picLocks noChangeAspect="1"/>
          </p:cNvPicPr>
          <p:nvPr/>
        </p:nvPicPr>
        <p:blipFill>
          <a:blip r:embed="rId2"/>
          <a:stretch>
            <a:fillRect/>
          </a:stretch>
        </p:blipFill>
        <p:spPr>
          <a:xfrm>
            <a:off x="3474720" y="1554480"/>
            <a:ext cx="365760" cy="365760"/>
          </a:xfrm>
          <a:prstGeom prst="rect">
            <a:avLst/>
          </a:prstGeom>
        </p:spPr>
      </p:pic>
      <p:sp>
        <p:nvSpPr>
          <p:cNvPr id="12" name="Shape 8"/>
          <p:cNvSpPr/>
          <p:nvPr/>
        </p:nvSpPr>
        <p:spPr>
          <a:xfrm>
            <a:off x="2606040" y="2286000"/>
            <a:ext cx="2103120" cy="2286000"/>
          </a:xfrm>
          <a:prstGeom prst="roundRect">
            <a:avLst>
              <a:gd name="adj" fmla="val 2609"/>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sp>
        <p:nvSpPr>
          <p:cNvPr id="13" name="Text 9"/>
          <p:cNvSpPr/>
          <p:nvPr/>
        </p:nvSpPr>
        <p:spPr>
          <a:xfrm>
            <a:off x="2697480" y="2377440"/>
            <a:ext cx="1920240" cy="320040"/>
          </a:xfrm>
          <a:prstGeom prst="rect">
            <a:avLst/>
          </a:prstGeom>
          <a:noFill/>
          <a:ln/>
        </p:spPr>
        <p:txBody>
          <a:bodyPr wrap="square" lIns="0" tIns="0" rIns="0" bIns="0" rtlCol="0" anchor="ctr"/>
          <a:lstStyle/>
          <a:p>
            <a:pPr algn="ctr" indent="0" marL="0">
              <a:buNone/>
            </a:pPr>
            <a:r>
              <a:rPr lang="en-US" sz="1300" b="1" dirty="0">
                <a:solidFill>
                  <a:srgbClr val="111827"/>
                </a:solidFill>
                <a:latin typeface="Calibri" pitchFamily="34" charset="0"/>
                <a:ea typeface="Calibri" pitchFamily="34" charset="-122"/>
                <a:cs typeface="Calibri" pitchFamily="34" charset="-120"/>
              </a:rPr>
              <a:t>Daily (self)</a:t>
            </a:r>
            <a:endParaRPr lang="en-US" sz="1300" dirty="0"/>
          </a:p>
        </p:txBody>
      </p:sp>
      <p:sp>
        <p:nvSpPr>
          <p:cNvPr id="14" name="Text 10"/>
          <p:cNvSpPr/>
          <p:nvPr/>
        </p:nvSpPr>
        <p:spPr>
          <a:xfrm>
            <a:off x="2697480" y="2697480"/>
            <a:ext cx="1920240" cy="228600"/>
          </a:xfrm>
          <a:prstGeom prst="rect">
            <a:avLst/>
          </a:prstGeom>
          <a:noFill/>
          <a:ln/>
        </p:spPr>
        <p:txBody>
          <a:bodyPr wrap="square" lIns="0" tIns="0" rIns="0" bIns="0" rtlCol="0" anchor="ctr"/>
          <a:lstStyle/>
          <a:p>
            <a:pPr algn="ctr" indent="0" marL="0">
              <a:buNone/>
            </a:pPr>
            <a:r>
              <a:rPr lang="en-US" sz="900" i="1" dirty="0">
                <a:solidFill>
                  <a:srgbClr val="1A7A4A"/>
                </a:solidFill>
                <a:latin typeface="Calibri" pitchFamily="34" charset="0"/>
                <a:ea typeface="Calibri" pitchFamily="34" charset="-122"/>
                <a:cs typeface="Calibri" pitchFamily="34" charset="-120"/>
              </a:rPr>
              <a:t>Ogni giorno</a:t>
            </a:r>
            <a:endParaRPr lang="en-US" sz="900" dirty="0"/>
          </a:p>
        </p:txBody>
      </p:sp>
      <p:sp>
        <p:nvSpPr>
          <p:cNvPr id="15" name="Text 11"/>
          <p:cNvSpPr/>
          <p:nvPr/>
        </p:nvSpPr>
        <p:spPr>
          <a:xfrm>
            <a:off x="2743200" y="3017520"/>
            <a:ext cx="1828800" cy="1371600"/>
          </a:xfrm>
          <a:prstGeom prst="rect">
            <a:avLst/>
          </a:prstGeom>
          <a:noFill/>
          <a:ln/>
        </p:spPr>
        <p:txBody>
          <a:bodyPr wrap="square" lIns="0" tIns="0" rIns="0" bIns="0" rtlCol="0" anchor="ctr"/>
          <a:lstStyle/>
          <a:p>
            <a:pPr algn="l" indent="0" marL="0">
              <a:buNone/>
            </a:pPr>
            <a:r>
              <a:rPr lang="en-US" sz="1000" dirty="0">
                <a:solidFill>
                  <a:srgbClr val="374151"/>
                </a:solidFill>
                <a:latin typeface="Calibri" pitchFamily="34" charset="0"/>
                <a:ea typeface="Calibri" pitchFamily="34" charset="-122"/>
                <a:cs typeface="Calibri" pitchFamily="34" charset="-120"/>
              </a:rPr>
              <a:t>Auto-review di 5 minuti: cosa ho fatto ieri, cosa farò oggi, blocchi attivi.</a:t>
            </a:r>
            <a:endParaRPr lang="en-US" sz="1000" dirty="0"/>
          </a:p>
        </p:txBody>
      </p:sp>
      <p:sp>
        <p:nvSpPr>
          <p:cNvPr id="16" name="Shape 12"/>
          <p:cNvSpPr/>
          <p:nvPr/>
        </p:nvSpPr>
        <p:spPr>
          <a:xfrm>
            <a:off x="5532120" y="1417320"/>
            <a:ext cx="640080" cy="640080"/>
          </a:xfrm>
          <a:prstGeom prst="ellipse">
            <a:avLst/>
          </a:prstGeom>
          <a:solidFill>
            <a:srgbClr val="E8F5EE"/>
          </a:solidFill>
          <a:ln w="19050">
            <a:solidFill>
              <a:srgbClr val="1A7A4A"/>
            </a:solidFill>
            <a:prstDash val="solid"/>
          </a:ln>
        </p:spPr>
      </p:sp>
      <p:pic>
        <p:nvPicPr>
          <p:cNvPr id="17" name="Image 2" descr="preencoded.png">    </p:cNvPr>
          <p:cNvPicPr>
            <a:picLocks noChangeAspect="1"/>
          </p:cNvPicPr>
          <p:nvPr/>
        </p:nvPicPr>
        <p:blipFill>
          <a:blip r:embed="rId3"/>
          <a:stretch>
            <a:fillRect/>
          </a:stretch>
        </p:blipFill>
        <p:spPr>
          <a:xfrm>
            <a:off x="5669280" y="1554480"/>
            <a:ext cx="365760" cy="365760"/>
          </a:xfrm>
          <a:prstGeom prst="rect">
            <a:avLst/>
          </a:prstGeom>
        </p:spPr>
      </p:pic>
      <p:sp>
        <p:nvSpPr>
          <p:cNvPr id="18" name="Shape 13"/>
          <p:cNvSpPr/>
          <p:nvPr/>
        </p:nvSpPr>
        <p:spPr>
          <a:xfrm>
            <a:off x="4800600" y="2286000"/>
            <a:ext cx="2103120" cy="2286000"/>
          </a:xfrm>
          <a:prstGeom prst="roundRect">
            <a:avLst>
              <a:gd name="adj" fmla="val 2609"/>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sp>
        <p:nvSpPr>
          <p:cNvPr id="19" name="Text 14"/>
          <p:cNvSpPr/>
          <p:nvPr/>
        </p:nvSpPr>
        <p:spPr>
          <a:xfrm>
            <a:off x="4892040" y="2377440"/>
            <a:ext cx="1920240" cy="320040"/>
          </a:xfrm>
          <a:prstGeom prst="rect">
            <a:avLst/>
          </a:prstGeom>
          <a:noFill/>
          <a:ln/>
        </p:spPr>
        <p:txBody>
          <a:bodyPr wrap="square" lIns="0" tIns="0" rIns="0" bIns="0" rtlCol="0" anchor="ctr"/>
          <a:lstStyle/>
          <a:p>
            <a:pPr algn="ctr" indent="0" marL="0">
              <a:buNone/>
            </a:pPr>
            <a:r>
              <a:rPr lang="en-US" sz="1300" b="1" dirty="0">
                <a:solidFill>
                  <a:srgbClr val="111827"/>
                </a:solidFill>
                <a:latin typeface="Calibri" pitchFamily="34" charset="0"/>
                <a:ea typeface="Calibri" pitchFamily="34" charset="-122"/>
                <a:cs typeface="Calibri" pitchFamily="34" charset="-120"/>
              </a:rPr>
              <a:t>Sprint Review</a:t>
            </a:r>
            <a:endParaRPr lang="en-US" sz="1300" dirty="0"/>
          </a:p>
        </p:txBody>
      </p:sp>
      <p:sp>
        <p:nvSpPr>
          <p:cNvPr id="20" name="Text 15"/>
          <p:cNvSpPr/>
          <p:nvPr/>
        </p:nvSpPr>
        <p:spPr>
          <a:xfrm>
            <a:off x="4892040" y="2697480"/>
            <a:ext cx="1920240" cy="228600"/>
          </a:xfrm>
          <a:prstGeom prst="rect">
            <a:avLst/>
          </a:prstGeom>
          <a:noFill/>
          <a:ln/>
        </p:spPr>
        <p:txBody>
          <a:bodyPr wrap="square" lIns="0" tIns="0" rIns="0" bIns="0" rtlCol="0" anchor="ctr"/>
          <a:lstStyle/>
          <a:p>
            <a:pPr algn="ctr" indent="0" marL="0">
              <a:buNone/>
            </a:pPr>
            <a:r>
              <a:rPr lang="en-US" sz="900" i="1" dirty="0">
                <a:solidFill>
                  <a:srgbClr val="1A7A4A"/>
                </a:solidFill>
                <a:latin typeface="Calibri" pitchFamily="34" charset="0"/>
                <a:ea typeface="Calibri" pitchFamily="34" charset="-122"/>
                <a:cs typeface="Calibri" pitchFamily="34" charset="-120"/>
              </a:rPr>
              <a:t>Fine settimana</a:t>
            </a:r>
            <a:endParaRPr lang="en-US" sz="900" dirty="0"/>
          </a:p>
        </p:txBody>
      </p:sp>
      <p:sp>
        <p:nvSpPr>
          <p:cNvPr id="21" name="Text 16"/>
          <p:cNvSpPr/>
          <p:nvPr/>
        </p:nvSpPr>
        <p:spPr>
          <a:xfrm>
            <a:off x="4937760" y="3017520"/>
            <a:ext cx="1828800" cy="1371600"/>
          </a:xfrm>
          <a:prstGeom prst="rect">
            <a:avLst/>
          </a:prstGeom>
          <a:noFill/>
          <a:ln/>
        </p:spPr>
        <p:txBody>
          <a:bodyPr wrap="square" lIns="0" tIns="0" rIns="0" bIns="0" rtlCol="0" anchor="ctr"/>
          <a:lstStyle/>
          <a:p>
            <a:pPr algn="l" indent="0" marL="0">
              <a:buNone/>
            </a:pPr>
            <a:r>
              <a:rPr lang="en-US" sz="1000" dirty="0">
                <a:solidFill>
                  <a:srgbClr val="374151"/>
                </a:solidFill>
                <a:latin typeface="Calibri" pitchFamily="34" charset="0"/>
                <a:ea typeface="Calibri" pitchFamily="34" charset="-122"/>
                <a:cs typeface="Calibri" pitchFamily="34" charset="-120"/>
              </a:rPr>
              <a:t>Verifica funzionalità completate, demo personale, validazione contro user stories.</a:t>
            </a:r>
            <a:endParaRPr lang="en-US" sz="1000" dirty="0"/>
          </a:p>
        </p:txBody>
      </p:sp>
      <p:sp>
        <p:nvSpPr>
          <p:cNvPr id="22" name="Shape 17"/>
          <p:cNvSpPr/>
          <p:nvPr/>
        </p:nvSpPr>
        <p:spPr>
          <a:xfrm>
            <a:off x="7726680" y="1417320"/>
            <a:ext cx="640080" cy="640080"/>
          </a:xfrm>
          <a:prstGeom prst="ellipse">
            <a:avLst/>
          </a:prstGeom>
          <a:solidFill>
            <a:srgbClr val="E8F5EE"/>
          </a:solidFill>
          <a:ln w="19050">
            <a:solidFill>
              <a:srgbClr val="1A7A4A"/>
            </a:solidFill>
            <a:prstDash val="solid"/>
          </a:ln>
        </p:spPr>
      </p:sp>
      <p:pic>
        <p:nvPicPr>
          <p:cNvPr id="23" name="Image 3" descr="preencoded.png">    </p:cNvPr>
          <p:cNvPicPr>
            <a:picLocks noChangeAspect="1"/>
          </p:cNvPicPr>
          <p:nvPr/>
        </p:nvPicPr>
        <p:blipFill>
          <a:blip r:embed="rId4"/>
          <a:stretch>
            <a:fillRect/>
          </a:stretch>
        </p:blipFill>
        <p:spPr>
          <a:xfrm>
            <a:off x="7863840" y="1554480"/>
            <a:ext cx="365760" cy="365760"/>
          </a:xfrm>
          <a:prstGeom prst="rect">
            <a:avLst/>
          </a:prstGeom>
        </p:spPr>
      </p:pic>
      <p:sp>
        <p:nvSpPr>
          <p:cNvPr id="24" name="Shape 18"/>
          <p:cNvSpPr/>
          <p:nvPr/>
        </p:nvSpPr>
        <p:spPr>
          <a:xfrm>
            <a:off x="6995160" y="2286000"/>
            <a:ext cx="2103120" cy="2286000"/>
          </a:xfrm>
          <a:prstGeom prst="roundRect">
            <a:avLst>
              <a:gd name="adj" fmla="val 2609"/>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sp>
        <p:nvSpPr>
          <p:cNvPr id="25" name="Text 19"/>
          <p:cNvSpPr/>
          <p:nvPr/>
        </p:nvSpPr>
        <p:spPr>
          <a:xfrm>
            <a:off x="7086600" y="2377440"/>
            <a:ext cx="1920240" cy="320040"/>
          </a:xfrm>
          <a:prstGeom prst="rect">
            <a:avLst/>
          </a:prstGeom>
          <a:noFill/>
          <a:ln/>
        </p:spPr>
        <p:txBody>
          <a:bodyPr wrap="square" lIns="0" tIns="0" rIns="0" bIns="0" rtlCol="0" anchor="ctr"/>
          <a:lstStyle/>
          <a:p>
            <a:pPr algn="ctr" indent="0" marL="0">
              <a:buNone/>
            </a:pPr>
            <a:r>
              <a:rPr lang="en-US" sz="1300" b="1" dirty="0">
                <a:solidFill>
                  <a:srgbClr val="111827"/>
                </a:solidFill>
                <a:latin typeface="Calibri" pitchFamily="34" charset="0"/>
                <a:ea typeface="Calibri" pitchFamily="34" charset="-122"/>
                <a:cs typeface="Calibri" pitchFamily="34" charset="-120"/>
              </a:rPr>
              <a:t>Retrospective</a:t>
            </a:r>
            <a:endParaRPr lang="en-US" sz="1300" dirty="0"/>
          </a:p>
        </p:txBody>
      </p:sp>
      <p:sp>
        <p:nvSpPr>
          <p:cNvPr id="26" name="Text 20"/>
          <p:cNvSpPr/>
          <p:nvPr/>
        </p:nvSpPr>
        <p:spPr>
          <a:xfrm>
            <a:off x="7086600" y="2697480"/>
            <a:ext cx="1920240" cy="228600"/>
          </a:xfrm>
          <a:prstGeom prst="rect">
            <a:avLst/>
          </a:prstGeom>
          <a:noFill/>
          <a:ln/>
        </p:spPr>
        <p:txBody>
          <a:bodyPr wrap="square" lIns="0" tIns="0" rIns="0" bIns="0" rtlCol="0" anchor="ctr"/>
          <a:lstStyle/>
          <a:p>
            <a:pPr algn="ctr" indent="0" marL="0">
              <a:buNone/>
            </a:pPr>
            <a:r>
              <a:rPr lang="en-US" sz="900" i="1" dirty="0">
                <a:solidFill>
                  <a:srgbClr val="1A7A4A"/>
                </a:solidFill>
                <a:latin typeface="Calibri" pitchFamily="34" charset="0"/>
                <a:ea typeface="Calibri" pitchFamily="34" charset="-122"/>
                <a:cs typeface="Calibri" pitchFamily="34" charset="-120"/>
              </a:rPr>
              <a:t>Fine sprint</a:t>
            </a:r>
            <a:endParaRPr lang="en-US" sz="900" dirty="0"/>
          </a:p>
        </p:txBody>
      </p:sp>
      <p:sp>
        <p:nvSpPr>
          <p:cNvPr id="27" name="Text 21"/>
          <p:cNvSpPr/>
          <p:nvPr/>
        </p:nvSpPr>
        <p:spPr>
          <a:xfrm>
            <a:off x="7132320" y="3017520"/>
            <a:ext cx="1828800" cy="1371600"/>
          </a:xfrm>
          <a:prstGeom prst="rect">
            <a:avLst/>
          </a:prstGeom>
          <a:noFill/>
          <a:ln/>
        </p:spPr>
        <p:txBody>
          <a:bodyPr wrap="square" lIns="0" tIns="0" rIns="0" bIns="0" rtlCol="0" anchor="ctr"/>
          <a:lstStyle/>
          <a:p>
            <a:pPr algn="l" indent="0" marL="0">
              <a:buNone/>
            </a:pPr>
            <a:r>
              <a:rPr lang="en-US" sz="1000" dirty="0">
                <a:solidFill>
                  <a:srgbClr val="374151"/>
                </a:solidFill>
                <a:latin typeface="Calibri" pitchFamily="34" charset="0"/>
                <a:ea typeface="Calibri" pitchFamily="34" charset="-122"/>
                <a:cs typeface="Calibri" pitchFamily="34" charset="-120"/>
              </a:rPr>
              <a:t>Note in file SPRINT_LOG.md: cosa ha funzionato, cosa migliorare, lezioni apprese.</a:t>
            </a:r>
            <a:endParaRPr lang="en-US" sz="1000" dirty="0"/>
          </a:p>
        </p:txBody>
      </p:sp>
      <p:sp>
        <p:nvSpPr>
          <p:cNvPr id="28" name="Text 22"/>
          <p:cNvSpPr/>
          <p:nvPr/>
        </p:nvSpPr>
        <p:spPr>
          <a:xfrm>
            <a:off x="457200" y="4617720"/>
            <a:ext cx="8229600" cy="320040"/>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Evidenza pratica: </a:t>
            </a:r>
            <a:pPr indent="0" marL="0">
              <a:buNone/>
            </a:pPr>
            <a:r>
              <a:rPr lang="en-US" sz="1100" dirty="0">
                <a:solidFill>
                  <a:srgbClr val="374151"/>
                </a:solidFill>
                <a:latin typeface="Calibri" pitchFamily="34" charset="0"/>
                <a:ea typeface="Calibri" pitchFamily="34" charset="-122"/>
                <a:cs typeface="Calibri" pitchFamily="34" charset="-120"/>
              </a:rPr>
              <a:t>il file </a:t>
            </a:r>
            <a:pPr indent="0" marL="0">
              <a:buNone/>
            </a:pPr>
            <a:r>
              <a:rPr lang="en-US" sz="1100" b="1" dirty="0">
                <a:solidFill>
                  <a:srgbClr val="1A7A4A"/>
                </a:solidFill>
                <a:latin typeface="Consolas" pitchFamily="34" charset="0"/>
                <a:ea typeface="Consolas" pitchFamily="34" charset="-122"/>
                <a:cs typeface="Consolas" pitchFamily="34" charset="-120"/>
              </a:rPr>
              <a:t>SPRINT_LOG.md</a:t>
            </a:r>
            <a:pPr indent="0" marL="0">
              <a:buNone/>
            </a:pPr>
            <a:r>
              <a:rPr lang="en-US" sz="1100" dirty="0">
                <a:solidFill>
                  <a:srgbClr val="374151"/>
                </a:solidFill>
                <a:latin typeface="Calibri" pitchFamily="34" charset="0"/>
                <a:ea typeface="Calibri" pitchFamily="34" charset="-122"/>
                <a:cs typeface="Calibri" pitchFamily="34" charset="-120"/>
              </a:rPr>
              <a:t> nel repository registra le retrospettive di ogni sprint, con tag #fatto, #problema, #lezione.</a:t>
            </a:r>
            <a:endParaRPr lang="en-US" sz="1100" dirty="0"/>
          </a:p>
        </p:txBody>
      </p:sp>
      <p:sp>
        <p:nvSpPr>
          <p:cNvPr id="29" name="Text 23"/>
          <p:cNvSpPr/>
          <p:nvPr/>
        </p:nvSpPr>
        <p:spPr>
          <a:xfrm>
            <a:off x="365760" y="4823460"/>
            <a:ext cx="54864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TicketStadio · Ingegneria del Software</a:t>
            </a:r>
            <a:endParaRPr lang="en-US" sz="900" dirty="0"/>
          </a:p>
        </p:txBody>
      </p:sp>
      <p:sp>
        <p:nvSpPr>
          <p:cNvPr id="30" name="Text 24"/>
          <p:cNvSpPr/>
          <p:nvPr/>
        </p:nvSpPr>
        <p:spPr>
          <a:xfrm>
            <a:off x="8229600" y="4823460"/>
            <a:ext cx="54864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365760" y="320040"/>
            <a:ext cx="7315200" cy="50292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Disegno funzionale</a:t>
            </a:r>
            <a:endParaRPr lang="en-US" sz="2800" dirty="0"/>
          </a:p>
        </p:txBody>
      </p:sp>
      <p:sp>
        <p:nvSpPr>
          <p:cNvPr id="3" name="Text 1"/>
          <p:cNvSpPr/>
          <p:nvPr/>
        </p:nvSpPr>
        <p:spPr>
          <a:xfrm>
            <a:off x="365760" y="841248"/>
            <a:ext cx="8229600" cy="27432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Flusso utente: dall'arrivo all'acquisto biglietto (estratto da Miro)</a:t>
            </a:r>
            <a:endParaRPr lang="en-US" sz="1300" dirty="0"/>
          </a:p>
        </p:txBody>
      </p:sp>
      <p:sp>
        <p:nvSpPr>
          <p:cNvPr id="4" name="Shape 2"/>
          <p:cNvSpPr/>
          <p:nvPr/>
        </p:nvSpPr>
        <p:spPr>
          <a:xfrm>
            <a:off x="960120" y="1554480"/>
            <a:ext cx="457200" cy="457200"/>
          </a:xfrm>
          <a:prstGeom prst="ellipse">
            <a:avLst/>
          </a:prstGeom>
          <a:solidFill>
            <a:srgbClr val="1A7A4A"/>
          </a:solidFill>
          <a:ln w="12700">
            <a:solidFill>
              <a:srgbClr val="1A7A4A"/>
            </a:solidFill>
            <a:prstDash val="solid"/>
          </a:ln>
        </p:spPr>
      </p:sp>
      <p:sp>
        <p:nvSpPr>
          <p:cNvPr id="5" name="Text 3"/>
          <p:cNvSpPr/>
          <p:nvPr/>
        </p:nvSpPr>
        <p:spPr>
          <a:xfrm>
            <a:off x="9601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463040" y="1783080"/>
            <a:ext cx="640080" cy="0"/>
          </a:xfrm>
          <a:prstGeom prst="line">
            <a:avLst/>
          </a:prstGeom>
          <a:noFill/>
          <a:ln w="19050">
            <a:solidFill>
              <a:srgbClr val="1A7A4A"/>
            </a:solidFill>
            <a:prstDash val="dash"/>
            <a:tailEnd type="triangle"/>
          </a:ln>
        </p:spPr>
      </p:sp>
      <p:sp>
        <p:nvSpPr>
          <p:cNvPr id="7" name="Shape 5"/>
          <p:cNvSpPr/>
          <p:nvPr/>
        </p:nvSpPr>
        <p:spPr>
          <a:xfrm>
            <a:off x="457200" y="2240280"/>
            <a:ext cx="1463040" cy="2011680"/>
          </a:xfrm>
          <a:prstGeom prst="roundRect">
            <a:avLst>
              <a:gd name="adj" fmla="val 3125"/>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8" name="Image 0" descr="preencoded.png">    </p:cNvPr>
          <p:cNvPicPr>
            <a:picLocks noChangeAspect="1"/>
          </p:cNvPicPr>
          <p:nvPr/>
        </p:nvPicPr>
        <p:blipFill>
          <a:blip r:embed="rId1"/>
          <a:stretch>
            <a:fillRect/>
          </a:stretch>
        </p:blipFill>
        <p:spPr>
          <a:xfrm>
            <a:off x="1005840" y="2377440"/>
            <a:ext cx="365760" cy="365760"/>
          </a:xfrm>
          <a:prstGeom prst="rect">
            <a:avLst/>
          </a:prstGeom>
        </p:spPr>
      </p:pic>
      <p:sp>
        <p:nvSpPr>
          <p:cNvPr id="9" name="Text 6"/>
          <p:cNvSpPr/>
          <p:nvPr/>
        </p:nvSpPr>
        <p:spPr>
          <a:xfrm>
            <a:off x="502920" y="2834640"/>
            <a:ext cx="1371600" cy="64008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Registrazione / Login</a:t>
            </a:r>
            <a:endParaRPr lang="en-US" sz="1000" dirty="0"/>
          </a:p>
        </p:txBody>
      </p:sp>
      <p:sp>
        <p:nvSpPr>
          <p:cNvPr id="10" name="Text 7"/>
          <p:cNvSpPr/>
          <p:nvPr/>
        </p:nvSpPr>
        <p:spPr>
          <a:xfrm>
            <a:off x="502920" y="3474720"/>
            <a:ext cx="1371600" cy="731520"/>
          </a:xfrm>
          <a:prstGeom prst="rect">
            <a:avLst/>
          </a:prstGeom>
          <a:no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JWT salvato in localStorage</a:t>
            </a:r>
            <a:endParaRPr lang="en-US" sz="800" dirty="0"/>
          </a:p>
        </p:txBody>
      </p:sp>
      <p:sp>
        <p:nvSpPr>
          <p:cNvPr id="11" name="Shape 8"/>
          <p:cNvSpPr/>
          <p:nvPr/>
        </p:nvSpPr>
        <p:spPr>
          <a:xfrm>
            <a:off x="2734056" y="1554480"/>
            <a:ext cx="457200" cy="457200"/>
          </a:xfrm>
          <a:prstGeom prst="ellipse">
            <a:avLst/>
          </a:prstGeom>
          <a:solidFill>
            <a:srgbClr val="1A7A4A"/>
          </a:solidFill>
          <a:ln w="12700">
            <a:solidFill>
              <a:srgbClr val="1A7A4A"/>
            </a:solidFill>
            <a:prstDash val="solid"/>
          </a:ln>
        </p:spPr>
      </p:sp>
      <p:sp>
        <p:nvSpPr>
          <p:cNvPr id="12" name="Text 9"/>
          <p:cNvSpPr/>
          <p:nvPr/>
        </p:nvSpPr>
        <p:spPr>
          <a:xfrm>
            <a:off x="2734056"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Shape 10"/>
          <p:cNvSpPr/>
          <p:nvPr/>
        </p:nvSpPr>
        <p:spPr>
          <a:xfrm>
            <a:off x="3236976" y="1783080"/>
            <a:ext cx="640080" cy="0"/>
          </a:xfrm>
          <a:prstGeom prst="line">
            <a:avLst/>
          </a:prstGeom>
          <a:noFill/>
          <a:ln w="19050">
            <a:solidFill>
              <a:srgbClr val="1A7A4A"/>
            </a:solidFill>
            <a:prstDash val="dash"/>
            <a:tailEnd type="triangle"/>
          </a:ln>
        </p:spPr>
      </p:sp>
      <p:sp>
        <p:nvSpPr>
          <p:cNvPr id="14" name="Shape 11"/>
          <p:cNvSpPr/>
          <p:nvPr/>
        </p:nvSpPr>
        <p:spPr>
          <a:xfrm>
            <a:off x="2231136" y="2240280"/>
            <a:ext cx="1463040" cy="2011680"/>
          </a:xfrm>
          <a:prstGeom prst="roundRect">
            <a:avLst>
              <a:gd name="adj" fmla="val 3125"/>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15" name="Image 1" descr="preencoded.png">    </p:cNvPr>
          <p:cNvPicPr>
            <a:picLocks noChangeAspect="1"/>
          </p:cNvPicPr>
          <p:nvPr/>
        </p:nvPicPr>
        <p:blipFill>
          <a:blip r:embed="rId2"/>
          <a:stretch>
            <a:fillRect/>
          </a:stretch>
        </p:blipFill>
        <p:spPr>
          <a:xfrm>
            <a:off x="2779776" y="2377440"/>
            <a:ext cx="365760" cy="365760"/>
          </a:xfrm>
          <a:prstGeom prst="rect">
            <a:avLst/>
          </a:prstGeom>
        </p:spPr>
      </p:pic>
      <p:sp>
        <p:nvSpPr>
          <p:cNvPr id="16" name="Text 12"/>
          <p:cNvSpPr/>
          <p:nvPr/>
        </p:nvSpPr>
        <p:spPr>
          <a:xfrm>
            <a:off x="2276856" y="2834640"/>
            <a:ext cx="1371600" cy="64008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Catalogo partite</a:t>
            </a:r>
            <a:endParaRPr lang="en-US" sz="1000" dirty="0"/>
          </a:p>
        </p:txBody>
      </p:sp>
      <p:sp>
        <p:nvSpPr>
          <p:cNvPr id="17" name="Text 13"/>
          <p:cNvSpPr/>
          <p:nvPr/>
        </p:nvSpPr>
        <p:spPr>
          <a:xfrm>
            <a:off x="2276856" y="3474720"/>
            <a:ext cx="1371600" cy="731520"/>
          </a:xfrm>
          <a:prstGeom prst="rect">
            <a:avLst/>
          </a:prstGeom>
          <a:no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Filtra per data, squadra, stato</a:t>
            </a:r>
            <a:endParaRPr lang="en-US" sz="800" dirty="0"/>
          </a:p>
        </p:txBody>
      </p:sp>
      <p:sp>
        <p:nvSpPr>
          <p:cNvPr id="18" name="Shape 14"/>
          <p:cNvSpPr/>
          <p:nvPr/>
        </p:nvSpPr>
        <p:spPr>
          <a:xfrm>
            <a:off x="4507992" y="1554480"/>
            <a:ext cx="457200" cy="457200"/>
          </a:xfrm>
          <a:prstGeom prst="ellipse">
            <a:avLst/>
          </a:prstGeom>
          <a:solidFill>
            <a:srgbClr val="1A7A4A"/>
          </a:solidFill>
          <a:ln w="12700">
            <a:solidFill>
              <a:srgbClr val="1A7A4A"/>
            </a:solidFill>
            <a:prstDash val="solid"/>
          </a:ln>
        </p:spPr>
      </p:sp>
      <p:sp>
        <p:nvSpPr>
          <p:cNvPr id="19" name="Text 15"/>
          <p:cNvSpPr/>
          <p:nvPr/>
        </p:nvSpPr>
        <p:spPr>
          <a:xfrm>
            <a:off x="4507992"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Shape 16"/>
          <p:cNvSpPr/>
          <p:nvPr/>
        </p:nvSpPr>
        <p:spPr>
          <a:xfrm>
            <a:off x="5010912" y="1783080"/>
            <a:ext cx="640080" cy="0"/>
          </a:xfrm>
          <a:prstGeom prst="line">
            <a:avLst/>
          </a:prstGeom>
          <a:noFill/>
          <a:ln w="19050">
            <a:solidFill>
              <a:srgbClr val="1A7A4A"/>
            </a:solidFill>
            <a:prstDash val="dash"/>
            <a:tailEnd type="triangle"/>
          </a:ln>
        </p:spPr>
      </p:sp>
      <p:sp>
        <p:nvSpPr>
          <p:cNvPr id="21" name="Shape 17"/>
          <p:cNvSpPr/>
          <p:nvPr/>
        </p:nvSpPr>
        <p:spPr>
          <a:xfrm>
            <a:off x="4005072" y="2240280"/>
            <a:ext cx="1463040" cy="2011680"/>
          </a:xfrm>
          <a:prstGeom prst="roundRect">
            <a:avLst>
              <a:gd name="adj" fmla="val 3125"/>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22" name="Image 2" descr="preencoded.png">    </p:cNvPr>
          <p:cNvPicPr>
            <a:picLocks noChangeAspect="1"/>
          </p:cNvPicPr>
          <p:nvPr/>
        </p:nvPicPr>
        <p:blipFill>
          <a:blip r:embed="rId3"/>
          <a:stretch>
            <a:fillRect/>
          </a:stretch>
        </p:blipFill>
        <p:spPr>
          <a:xfrm>
            <a:off x="4553712" y="2377440"/>
            <a:ext cx="365760" cy="365760"/>
          </a:xfrm>
          <a:prstGeom prst="rect">
            <a:avLst/>
          </a:prstGeom>
        </p:spPr>
      </p:pic>
      <p:sp>
        <p:nvSpPr>
          <p:cNvPr id="23" name="Text 18"/>
          <p:cNvSpPr/>
          <p:nvPr/>
        </p:nvSpPr>
        <p:spPr>
          <a:xfrm>
            <a:off x="4050792" y="2834640"/>
            <a:ext cx="1371600" cy="64008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Selezione settore + posto</a:t>
            </a:r>
            <a:endParaRPr lang="en-US" sz="1000" dirty="0"/>
          </a:p>
        </p:txBody>
      </p:sp>
      <p:sp>
        <p:nvSpPr>
          <p:cNvPr id="24" name="Text 19"/>
          <p:cNvSpPr/>
          <p:nvPr/>
        </p:nvSpPr>
        <p:spPr>
          <a:xfrm>
            <a:off x="4050792" y="3474720"/>
            <a:ext cx="1371600" cy="731520"/>
          </a:xfrm>
          <a:prstGeom prst="rect">
            <a:avLst/>
          </a:prstGeom>
          <a:no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Mappa interattiva, posti occupati grigi</a:t>
            </a:r>
            <a:endParaRPr lang="en-US" sz="800" dirty="0"/>
          </a:p>
        </p:txBody>
      </p:sp>
      <p:sp>
        <p:nvSpPr>
          <p:cNvPr id="25" name="Shape 20"/>
          <p:cNvSpPr/>
          <p:nvPr/>
        </p:nvSpPr>
        <p:spPr>
          <a:xfrm>
            <a:off x="6281928" y="1554480"/>
            <a:ext cx="457200" cy="457200"/>
          </a:xfrm>
          <a:prstGeom prst="ellipse">
            <a:avLst/>
          </a:prstGeom>
          <a:solidFill>
            <a:srgbClr val="1A7A4A"/>
          </a:solidFill>
          <a:ln w="12700">
            <a:solidFill>
              <a:srgbClr val="1A7A4A"/>
            </a:solidFill>
            <a:prstDash val="solid"/>
          </a:ln>
        </p:spPr>
      </p:sp>
      <p:sp>
        <p:nvSpPr>
          <p:cNvPr id="26" name="Text 21"/>
          <p:cNvSpPr/>
          <p:nvPr/>
        </p:nvSpPr>
        <p:spPr>
          <a:xfrm>
            <a:off x="6281928"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Shape 22"/>
          <p:cNvSpPr/>
          <p:nvPr/>
        </p:nvSpPr>
        <p:spPr>
          <a:xfrm>
            <a:off x="6784848" y="1783080"/>
            <a:ext cx="640080" cy="0"/>
          </a:xfrm>
          <a:prstGeom prst="line">
            <a:avLst/>
          </a:prstGeom>
          <a:noFill/>
          <a:ln w="19050">
            <a:solidFill>
              <a:srgbClr val="1A7A4A"/>
            </a:solidFill>
            <a:prstDash val="dash"/>
            <a:tailEnd type="triangle"/>
          </a:ln>
        </p:spPr>
      </p:sp>
      <p:sp>
        <p:nvSpPr>
          <p:cNvPr id="28" name="Shape 23"/>
          <p:cNvSpPr/>
          <p:nvPr/>
        </p:nvSpPr>
        <p:spPr>
          <a:xfrm>
            <a:off x="5779008" y="2240280"/>
            <a:ext cx="1463040" cy="2011680"/>
          </a:xfrm>
          <a:prstGeom prst="roundRect">
            <a:avLst>
              <a:gd name="adj" fmla="val 3125"/>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29" name="Image 3" descr="preencoded.png">    </p:cNvPr>
          <p:cNvPicPr>
            <a:picLocks noChangeAspect="1"/>
          </p:cNvPicPr>
          <p:nvPr/>
        </p:nvPicPr>
        <p:blipFill>
          <a:blip r:embed="rId4"/>
          <a:stretch>
            <a:fillRect/>
          </a:stretch>
        </p:blipFill>
        <p:spPr>
          <a:xfrm>
            <a:off x="6327648" y="2377440"/>
            <a:ext cx="365760" cy="365760"/>
          </a:xfrm>
          <a:prstGeom prst="rect">
            <a:avLst/>
          </a:prstGeom>
        </p:spPr>
      </p:pic>
      <p:sp>
        <p:nvSpPr>
          <p:cNvPr id="30" name="Text 24"/>
          <p:cNvSpPr/>
          <p:nvPr/>
        </p:nvSpPr>
        <p:spPr>
          <a:xfrm>
            <a:off x="5824728" y="2834640"/>
            <a:ext cx="1371600" cy="64008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Codice promo + pagamento</a:t>
            </a:r>
            <a:endParaRPr lang="en-US" sz="1000" dirty="0"/>
          </a:p>
        </p:txBody>
      </p:sp>
      <p:sp>
        <p:nvSpPr>
          <p:cNvPr id="31" name="Text 25"/>
          <p:cNvSpPr/>
          <p:nvPr/>
        </p:nvSpPr>
        <p:spPr>
          <a:xfrm>
            <a:off x="5824728" y="3474720"/>
            <a:ext cx="1371600" cy="731520"/>
          </a:xfrm>
          <a:prstGeom prst="rect">
            <a:avLst/>
          </a:prstGeom>
          <a:no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Sconto applicato, scelta metodo</a:t>
            </a:r>
            <a:endParaRPr lang="en-US" sz="800" dirty="0"/>
          </a:p>
        </p:txBody>
      </p:sp>
      <p:sp>
        <p:nvSpPr>
          <p:cNvPr id="32" name="Shape 26"/>
          <p:cNvSpPr/>
          <p:nvPr/>
        </p:nvSpPr>
        <p:spPr>
          <a:xfrm>
            <a:off x="8055864" y="1554480"/>
            <a:ext cx="457200" cy="457200"/>
          </a:xfrm>
          <a:prstGeom prst="ellipse">
            <a:avLst/>
          </a:prstGeom>
          <a:solidFill>
            <a:srgbClr val="1A7A4A"/>
          </a:solidFill>
          <a:ln w="12700">
            <a:solidFill>
              <a:srgbClr val="1A7A4A"/>
            </a:solidFill>
            <a:prstDash val="solid"/>
          </a:ln>
        </p:spPr>
      </p:sp>
      <p:sp>
        <p:nvSpPr>
          <p:cNvPr id="33" name="Text 27"/>
          <p:cNvSpPr/>
          <p:nvPr/>
        </p:nvSpPr>
        <p:spPr>
          <a:xfrm>
            <a:off x="8055864"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4" name="Shape 28"/>
          <p:cNvSpPr/>
          <p:nvPr/>
        </p:nvSpPr>
        <p:spPr>
          <a:xfrm>
            <a:off x="7552944" y="2240280"/>
            <a:ext cx="1463040" cy="2011680"/>
          </a:xfrm>
          <a:prstGeom prst="roundRect">
            <a:avLst>
              <a:gd name="adj" fmla="val 3125"/>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35" name="Image 4" descr="preencoded.png">    </p:cNvPr>
          <p:cNvPicPr>
            <a:picLocks noChangeAspect="1"/>
          </p:cNvPicPr>
          <p:nvPr/>
        </p:nvPicPr>
        <p:blipFill>
          <a:blip r:embed="rId5"/>
          <a:stretch>
            <a:fillRect/>
          </a:stretch>
        </p:blipFill>
        <p:spPr>
          <a:xfrm>
            <a:off x="8101584" y="2377440"/>
            <a:ext cx="365760" cy="365760"/>
          </a:xfrm>
          <a:prstGeom prst="rect">
            <a:avLst/>
          </a:prstGeom>
        </p:spPr>
      </p:pic>
      <p:sp>
        <p:nvSpPr>
          <p:cNvPr id="36" name="Text 29"/>
          <p:cNvSpPr/>
          <p:nvPr/>
        </p:nvSpPr>
        <p:spPr>
          <a:xfrm>
            <a:off x="7598664" y="2834640"/>
            <a:ext cx="1371600" cy="64008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Conferma acquisto</a:t>
            </a:r>
            <a:endParaRPr lang="en-US" sz="1000" dirty="0"/>
          </a:p>
        </p:txBody>
      </p:sp>
      <p:sp>
        <p:nvSpPr>
          <p:cNvPr id="37" name="Text 30"/>
          <p:cNvSpPr/>
          <p:nvPr/>
        </p:nvSpPr>
        <p:spPr>
          <a:xfrm>
            <a:off x="7598664" y="3474720"/>
            <a:ext cx="1371600" cy="731520"/>
          </a:xfrm>
          <a:prstGeom prst="rect">
            <a:avLst/>
          </a:prstGeom>
          <a:noFill/>
          <a:ln/>
        </p:spPr>
        <p:txBody>
          <a:bodyPr wrap="square" lIns="0" tIns="0" rIns="0" bIns="0" rtlCol="0" anchor="ctr"/>
          <a:lstStyle/>
          <a:p>
            <a:pPr algn="ctr" indent="0" marL="0">
              <a:buNone/>
            </a:pPr>
            <a:r>
              <a:rPr lang="en-US" sz="800" i="1" dirty="0">
                <a:solidFill>
                  <a:srgbClr val="6B7280"/>
                </a:solidFill>
                <a:latin typeface="Calibri" pitchFamily="34" charset="0"/>
                <a:ea typeface="Calibri" pitchFamily="34" charset="-122"/>
                <a:cs typeface="Calibri" pitchFamily="34" charset="-120"/>
              </a:rPr>
              <a:t>Biglietto in I miei biglietti</a:t>
            </a:r>
            <a:endParaRPr lang="en-US" sz="800" dirty="0"/>
          </a:p>
        </p:txBody>
      </p:sp>
      <p:sp>
        <p:nvSpPr>
          <p:cNvPr id="38" name="Text 31"/>
          <p:cNvSpPr/>
          <p:nvPr/>
        </p:nvSpPr>
        <p:spPr>
          <a:xfrm>
            <a:off x="457200" y="4526280"/>
            <a:ext cx="8229600" cy="274320"/>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Eccezioni gestite: </a:t>
            </a:r>
            <a:pPr indent="0" marL="0">
              <a:buNone/>
            </a:pPr>
            <a:r>
              <a:rPr lang="en-US" sz="1100" dirty="0">
                <a:solidFill>
                  <a:srgbClr val="374151"/>
                </a:solidFill>
                <a:latin typeface="Calibri" pitchFamily="34" charset="0"/>
                <a:ea typeface="Calibri" pitchFamily="34" charset="-122"/>
                <a:cs typeface="Calibri" pitchFamily="34" charset="-120"/>
              </a:rPr>
              <a:t>posto occupato → 409 Conflict · partita annullata → blocco · promo scaduta → errore.</a:t>
            </a:r>
            <a:endParaRPr lang="en-US" sz="1100" dirty="0"/>
          </a:p>
        </p:txBody>
      </p:sp>
      <p:sp>
        <p:nvSpPr>
          <p:cNvPr id="39" name="Text 32"/>
          <p:cNvSpPr/>
          <p:nvPr/>
        </p:nvSpPr>
        <p:spPr>
          <a:xfrm>
            <a:off x="365760" y="4823460"/>
            <a:ext cx="54864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TicketStadio · Ingegneria del Software</a:t>
            </a:r>
            <a:endParaRPr lang="en-US" sz="900" dirty="0"/>
          </a:p>
        </p:txBody>
      </p:sp>
      <p:sp>
        <p:nvSpPr>
          <p:cNvPr id="40" name="Text 33"/>
          <p:cNvSpPr/>
          <p:nvPr/>
        </p:nvSpPr>
        <p:spPr>
          <a:xfrm>
            <a:off x="8229600" y="4823460"/>
            <a:ext cx="54864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365760" y="320040"/>
            <a:ext cx="7315200" cy="50292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Board Trello</a:t>
            </a:r>
            <a:endParaRPr lang="en-US" sz="2800" dirty="0"/>
          </a:p>
        </p:txBody>
      </p:sp>
      <p:sp>
        <p:nvSpPr>
          <p:cNvPr id="3" name="Text 1"/>
          <p:cNvSpPr/>
          <p:nvPr/>
        </p:nvSpPr>
        <p:spPr>
          <a:xfrm>
            <a:off x="365760" y="841248"/>
            <a:ext cx="8229600" cy="27432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Organizzazione del backlog in 4 colonne</a:t>
            </a:r>
            <a:endParaRPr lang="en-US" sz="1300" dirty="0"/>
          </a:p>
        </p:txBody>
      </p:sp>
      <p:sp>
        <p:nvSpPr>
          <p:cNvPr id="4" name="Shape 2"/>
          <p:cNvSpPr/>
          <p:nvPr/>
        </p:nvSpPr>
        <p:spPr>
          <a:xfrm>
            <a:off x="365760" y="1417320"/>
            <a:ext cx="2011680" cy="457200"/>
          </a:xfrm>
          <a:prstGeom prst="rect">
            <a:avLst/>
          </a:prstGeom>
          <a:solidFill>
            <a:srgbClr val="6B7280"/>
          </a:solidFill>
          <a:ln w="12700">
            <a:solidFill>
              <a:srgbClr val="6B7280"/>
            </a:solidFill>
            <a:prstDash val="solid"/>
          </a:ln>
        </p:spPr>
      </p:sp>
      <p:sp>
        <p:nvSpPr>
          <p:cNvPr id="5" name="Text 3"/>
          <p:cNvSpPr/>
          <p:nvPr/>
        </p:nvSpPr>
        <p:spPr>
          <a:xfrm>
            <a:off x="457200" y="1417320"/>
            <a:ext cx="11887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Backlog</a:t>
            </a:r>
            <a:endParaRPr lang="en-US" sz="1200" dirty="0"/>
          </a:p>
        </p:txBody>
      </p:sp>
      <p:sp>
        <p:nvSpPr>
          <p:cNvPr id="6" name="Text 4"/>
          <p:cNvSpPr/>
          <p:nvPr/>
        </p:nvSpPr>
        <p:spPr>
          <a:xfrm>
            <a:off x="1645920" y="1417320"/>
            <a:ext cx="640080" cy="4572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 card</a:t>
            </a:r>
            <a:endParaRPr lang="en-US" sz="900" dirty="0"/>
          </a:p>
        </p:txBody>
      </p:sp>
      <p:sp>
        <p:nvSpPr>
          <p:cNvPr id="7" name="Shape 5"/>
          <p:cNvSpPr/>
          <p:nvPr/>
        </p:nvSpPr>
        <p:spPr>
          <a:xfrm>
            <a:off x="365760" y="1874520"/>
            <a:ext cx="2011680" cy="2560320"/>
          </a:xfrm>
          <a:prstGeom prst="rect">
            <a:avLst/>
          </a:prstGeom>
          <a:solidFill>
            <a:srgbClr val="F3F4F6"/>
          </a:solidFill>
          <a:ln w="6350">
            <a:solidFill>
              <a:srgbClr val="D1D5DB"/>
            </a:solidFill>
            <a:prstDash val="solid"/>
          </a:ln>
        </p:spPr>
      </p:sp>
      <p:sp>
        <p:nvSpPr>
          <p:cNvPr id="8" name="Shape 6"/>
          <p:cNvSpPr/>
          <p:nvPr/>
        </p:nvSpPr>
        <p:spPr>
          <a:xfrm>
            <a:off x="457200" y="2011680"/>
            <a:ext cx="1828800" cy="365760"/>
          </a:xfrm>
          <a:prstGeom prst="rect">
            <a:avLst/>
          </a:prstGeom>
          <a:solidFill>
            <a:srgbClr val="FFFFFF"/>
          </a:solidFill>
          <a:ln w="5080">
            <a:solidFill>
              <a:srgbClr val="D1D5DB"/>
            </a:solidFill>
            <a:prstDash val="solid"/>
          </a:ln>
        </p:spPr>
      </p:sp>
      <p:sp>
        <p:nvSpPr>
          <p:cNvPr id="9" name="Text 7"/>
          <p:cNvSpPr/>
          <p:nvPr/>
        </p:nvSpPr>
        <p:spPr>
          <a:xfrm>
            <a:off x="548640" y="20116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Mappa interattiva 3D</a:t>
            </a:r>
            <a:endParaRPr lang="en-US" sz="900" dirty="0"/>
          </a:p>
        </p:txBody>
      </p:sp>
      <p:sp>
        <p:nvSpPr>
          <p:cNvPr id="10" name="Shape 8"/>
          <p:cNvSpPr/>
          <p:nvPr/>
        </p:nvSpPr>
        <p:spPr>
          <a:xfrm>
            <a:off x="457200" y="2468880"/>
            <a:ext cx="1828800" cy="365760"/>
          </a:xfrm>
          <a:prstGeom prst="rect">
            <a:avLst/>
          </a:prstGeom>
          <a:solidFill>
            <a:srgbClr val="FFFFFF"/>
          </a:solidFill>
          <a:ln w="5080">
            <a:solidFill>
              <a:srgbClr val="D1D5DB"/>
            </a:solidFill>
            <a:prstDash val="solid"/>
          </a:ln>
        </p:spPr>
      </p:sp>
      <p:sp>
        <p:nvSpPr>
          <p:cNvPr id="11" name="Text 9"/>
          <p:cNvSpPr/>
          <p:nvPr/>
        </p:nvSpPr>
        <p:spPr>
          <a:xfrm>
            <a:off x="548640" y="24688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Notifiche push</a:t>
            </a:r>
            <a:endParaRPr lang="en-US" sz="900" dirty="0"/>
          </a:p>
        </p:txBody>
      </p:sp>
      <p:sp>
        <p:nvSpPr>
          <p:cNvPr id="12" name="Shape 10"/>
          <p:cNvSpPr/>
          <p:nvPr/>
        </p:nvSpPr>
        <p:spPr>
          <a:xfrm>
            <a:off x="457200" y="2926080"/>
            <a:ext cx="1828800" cy="365760"/>
          </a:xfrm>
          <a:prstGeom prst="rect">
            <a:avLst/>
          </a:prstGeom>
          <a:solidFill>
            <a:srgbClr val="FFFFFF"/>
          </a:solidFill>
          <a:ln w="5080">
            <a:solidFill>
              <a:srgbClr val="D1D5DB"/>
            </a:solidFill>
            <a:prstDash val="solid"/>
          </a:ln>
        </p:spPr>
      </p:sp>
      <p:sp>
        <p:nvSpPr>
          <p:cNvPr id="13" name="Text 11"/>
          <p:cNvSpPr/>
          <p:nvPr/>
        </p:nvSpPr>
        <p:spPr>
          <a:xfrm>
            <a:off x="548640" y="29260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Multistadio</a:t>
            </a:r>
            <a:endParaRPr lang="en-US" sz="900" dirty="0"/>
          </a:p>
        </p:txBody>
      </p:sp>
      <p:sp>
        <p:nvSpPr>
          <p:cNvPr id="14" name="Shape 12"/>
          <p:cNvSpPr/>
          <p:nvPr/>
        </p:nvSpPr>
        <p:spPr>
          <a:xfrm>
            <a:off x="457200" y="3383280"/>
            <a:ext cx="1828800" cy="365760"/>
          </a:xfrm>
          <a:prstGeom prst="rect">
            <a:avLst/>
          </a:prstGeom>
          <a:solidFill>
            <a:srgbClr val="FFFFFF"/>
          </a:solidFill>
          <a:ln w="5080">
            <a:solidFill>
              <a:srgbClr val="D1D5DB"/>
            </a:solidFill>
            <a:prstDash val="solid"/>
          </a:ln>
        </p:spPr>
      </p:sp>
      <p:sp>
        <p:nvSpPr>
          <p:cNvPr id="15" name="Text 13"/>
          <p:cNvSpPr/>
          <p:nvPr/>
        </p:nvSpPr>
        <p:spPr>
          <a:xfrm>
            <a:off x="548640" y="33832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Sistema rating</a:t>
            </a:r>
            <a:endParaRPr lang="en-US" sz="900" dirty="0"/>
          </a:p>
        </p:txBody>
      </p:sp>
      <p:sp>
        <p:nvSpPr>
          <p:cNvPr id="16" name="Shape 14"/>
          <p:cNvSpPr/>
          <p:nvPr/>
        </p:nvSpPr>
        <p:spPr>
          <a:xfrm>
            <a:off x="457200" y="3840480"/>
            <a:ext cx="1828800" cy="365760"/>
          </a:xfrm>
          <a:prstGeom prst="rect">
            <a:avLst/>
          </a:prstGeom>
          <a:solidFill>
            <a:srgbClr val="FFFFFF"/>
          </a:solidFill>
          <a:ln w="5080">
            <a:solidFill>
              <a:srgbClr val="D1D5DB"/>
            </a:solidFill>
            <a:prstDash val="solid"/>
          </a:ln>
        </p:spPr>
      </p:sp>
      <p:sp>
        <p:nvSpPr>
          <p:cNvPr id="17" name="Text 15"/>
          <p:cNvSpPr/>
          <p:nvPr/>
        </p:nvSpPr>
        <p:spPr>
          <a:xfrm>
            <a:off x="548640" y="38404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18" name="Shape 16"/>
          <p:cNvSpPr/>
          <p:nvPr/>
        </p:nvSpPr>
        <p:spPr>
          <a:xfrm>
            <a:off x="2560320" y="1417320"/>
            <a:ext cx="2011680" cy="457200"/>
          </a:xfrm>
          <a:prstGeom prst="rect">
            <a:avLst/>
          </a:prstGeom>
          <a:solidFill>
            <a:srgbClr val="3B82F6"/>
          </a:solidFill>
          <a:ln w="12700">
            <a:solidFill>
              <a:srgbClr val="3B82F6"/>
            </a:solidFill>
            <a:prstDash val="solid"/>
          </a:ln>
        </p:spPr>
      </p:sp>
      <p:sp>
        <p:nvSpPr>
          <p:cNvPr id="19" name="Text 17"/>
          <p:cNvSpPr/>
          <p:nvPr/>
        </p:nvSpPr>
        <p:spPr>
          <a:xfrm>
            <a:off x="2651760" y="1417320"/>
            <a:ext cx="11887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 Do</a:t>
            </a:r>
            <a:endParaRPr lang="en-US" sz="1200" dirty="0"/>
          </a:p>
        </p:txBody>
      </p:sp>
      <p:sp>
        <p:nvSpPr>
          <p:cNvPr id="20" name="Text 18"/>
          <p:cNvSpPr/>
          <p:nvPr/>
        </p:nvSpPr>
        <p:spPr>
          <a:xfrm>
            <a:off x="3840480" y="1417320"/>
            <a:ext cx="640080" cy="4572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 card</a:t>
            </a:r>
            <a:endParaRPr lang="en-US" sz="900" dirty="0"/>
          </a:p>
        </p:txBody>
      </p:sp>
      <p:sp>
        <p:nvSpPr>
          <p:cNvPr id="21" name="Shape 19"/>
          <p:cNvSpPr/>
          <p:nvPr/>
        </p:nvSpPr>
        <p:spPr>
          <a:xfrm>
            <a:off x="2560320" y="1874520"/>
            <a:ext cx="2011680" cy="2560320"/>
          </a:xfrm>
          <a:prstGeom prst="rect">
            <a:avLst/>
          </a:prstGeom>
          <a:solidFill>
            <a:srgbClr val="F3F4F6"/>
          </a:solidFill>
          <a:ln w="6350">
            <a:solidFill>
              <a:srgbClr val="D1D5DB"/>
            </a:solidFill>
            <a:prstDash val="solid"/>
          </a:ln>
        </p:spPr>
      </p:sp>
      <p:sp>
        <p:nvSpPr>
          <p:cNvPr id="22" name="Shape 20"/>
          <p:cNvSpPr/>
          <p:nvPr/>
        </p:nvSpPr>
        <p:spPr>
          <a:xfrm>
            <a:off x="2651760" y="2011680"/>
            <a:ext cx="1828800" cy="365760"/>
          </a:xfrm>
          <a:prstGeom prst="rect">
            <a:avLst/>
          </a:prstGeom>
          <a:solidFill>
            <a:srgbClr val="FFFFFF"/>
          </a:solidFill>
          <a:ln w="5080">
            <a:solidFill>
              <a:srgbClr val="D1D5DB"/>
            </a:solidFill>
            <a:prstDash val="solid"/>
          </a:ln>
        </p:spPr>
      </p:sp>
      <p:sp>
        <p:nvSpPr>
          <p:cNvPr id="23" name="Text 21"/>
          <p:cNvSpPr/>
          <p:nvPr/>
        </p:nvSpPr>
        <p:spPr>
          <a:xfrm>
            <a:off x="2743200" y="20116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Dashboard admin</a:t>
            </a:r>
            <a:endParaRPr lang="en-US" sz="900" dirty="0"/>
          </a:p>
        </p:txBody>
      </p:sp>
      <p:sp>
        <p:nvSpPr>
          <p:cNvPr id="24" name="Shape 22"/>
          <p:cNvSpPr/>
          <p:nvPr/>
        </p:nvSpPr>
        <p:spPr>
          <a:xfrm>
            <a:off x="2651760" y="2468880"/>
            <a:ext cx="1828800" cy="365760"/>
          </a:xfrm>
          <a:prstGeom prst="rect">
            <a:avLst/>
          </a:prstGeom>
          <a:solidFill>
            <a:srgbClr val="FFFFFF"/>
          </a:solidFill>
          <a:ln w="5080">
            <a:solidFill>
              <a:srgbClr val="D1D5DB"/>
            </a:solidFill>
            <a:prstDash val="solid"/>
          </a:ln>
        </p:spPr>
      </p:sp>
      <p:sp>
        <p:nvSpPr>
          <p:cNvPr id="25" name="Text 23"/>
          <p:cNvSpPr/>
          <p:nvPr/>
        </p:nvSpPr>
        <p:spPr>
          <a:xfrm>
            <a:off x="2743200" y="24688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Refactor CSS</a:t>
            </a:r>
            <a:endParaRPr lang="en-US" sz="900" dirty="0"/>
          </a:p>
        </p:txBody>
      </p:sp>
      <p:sp>
        <p:nvSpPr>
          <p:cNvPr id="26" name="Shape 24"/>
          <p:cNvSpPr/>
          <p:nvPr/>
        </p:nvSpPr>
        <p:spPr>
          <a:xfrm>
            <a:off x="2651760" y="2926080"/>
            <a:ext cx="1828800" cy="365760"/>
          </a:xfrm>
          <a:prstGeom prst="rect">
            <a:avLst/>
          </a:prstGeom>
          <a:solidFill>
            <a:srgbClr val="FFFFFF"/>
          </a:solidFill>
          <a:ln w="5080">
            <a:solidFill>
              <a:srgbClr val="D1D5DB"/>
            </a:solidFill>
            <a:prstDash val="solid"/>
          </a:ln>
        </p:spPr>
      </p:sp>
      <p:sp>
        <p:nvSpPr>
          <p:cNvPr id="27" name="Text 25"/>
          <p:cNvSpPr/>
          <p:nvPr/>
        </p:nvSpPr>
        <p:spPr>
          <a:xfrm>
            <a:off x="2743200" y="29260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Documenta API</a:t>
            </a:r>
            <a:endParaRPr lang="en-US" sz="900" dirty="0"/>
          </a:p>
        </p:txBody>
      </p:sp>
      <p:sp>
        <p:nvSpPr>
          <p:cNvPr id="28" name="Shape 26"/>
          <p:cNvSpPr/>
          <p:nvPr/>
        </p:nvSpPr>
        <p:spPr>
          <a:xfrm>
            <a:off x="4754880" y="1417320"/>
            <a:ext cx="2011680" cy="457200"/>
          </a:xfrm>
          <a:prstGeom prst="rect">
            <a:avLst/>
          </a:prstGeom>
          <a:solidFill>
            <a:srgbClr val="F59E0B"/>
          </a:solidFill>
          <a:ln w="12700">
            <a:solidFill>
              <a:srgbClr val="F59E0B"/>
            </a:solidFill>
            <a:prstDash val="solid"/>
          </a:ln>
        </p:spPr>
      </p:sp>
      <p:sp>
        <p:nvSpPr>
          <p:cNvPr id="29" name="Text 27"/>
          <p:cNvSpPr/>
          <p:nvPr/>
        </p:nvSpPr>
        <p:spPr>
          <a:xfrm>
            <a:off x="4846320" y="1417320"/>
            <a:ext cx="11887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 Progress</a:t>
            </a:r>
            <a:endParaRPr lang="en-US" sz="1200" dirty="0"/>
          </a:p>
        </p:txBody>
      </p:sp>
      <p:sp>
        <p:nvSpPr>
          <p:cNvPr id="30" name="Text 28"/>
          <p:cNvSpPr/>
          <p:nvPr/>
        </p:nvSpPr>
        <p:spPr>
          <a:xfrm>
            <a:off x="6035040" y="1417320"/>
            <a:ext cx="640080" cy="4572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0 card</a:t>
            </a:r>
            <a:endParaRPr lang="en-US" sz="900" dirty="0"/>
          </a:p>
        </p:txBody>
      </p:sp>
      <p:sp>
        <p:nvSpPr>
          <p:cNvPr id="31" name="Shape 29"/>
          <p:cNvSpPr/>
          <p:nvPr/>
        </p:nvSpPr>
        <p:spPr>
          <a:xfrm>
            <a:off x="4754880" y="1874520"/>
            <a:ext cx="2011680" cy="2560320"/>
          </a:xfrm>
          <a:prstGeom prst="rect">
            <a:avLst/>
          </a:prstGeom>
          <a:solidFill>
            <a:srgbClr val="F3F4F6"/>
          </a:solidFill>
          <a:ln w="6350">
            <a:solidFill>
              <a:srgbClr val="D1D5DB"/>
            </a:solidFill>
            <a:prstDash val="solid"/>
          </a:ln>
        </p:spPr>
      </p:sp>
      <p:sp>
        <p:nvSpPr>
          <p:cNvPr id="32" name="Shape 30"/>
          <p:cNvSpPr/>
          <p:nvPr/>
        </p:nvSpPr>
        <p:spPr>
          <a:xfrm>
            <a:off x="4846320" y="2011680"/>
            <a:ext cx="1828800" cy="365760"/>
          </a:xfrm>
          <a:prstGeom prst="rect">
            <a:avLst/>
          </a:prstGeom>
          <a:solidFill>
            <a:srgbClr val="FFFFFF"/>
          </a:solidFill>
          <a:ln w="5080">
            <a:solidFill>
              <a:srgbClr val="D1D5DB"/>
            </a:solidFill>
            <a:prstDash val="solid"/>
          </a:ln>
        </p:spPr>
      </p:sp>
      <p:sp>
        <p:nvSpPr>
          <p:cNvPr id="33" name="Text 31"/>
          <p:cNvSpPr/>
          <p:nvPr/>
        </p:nvSpPr>
        <p:spPr>
          <a:xfrm>
            <a:off x="4937760" y="20116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(sprint corrente)</a:t>
            </a:r>
            <a:endParaRPr lang="en-US" sz="900" dirty="0"/>
          </a:p>
        </p:txBody>
      </p:sp>
      <p:sp>
        <p:nvSpPr>
          <p:cNvPr id="34" name="Shape 32"/>
          <p:cNvSpPr/>
          <p:nvPr/>
        </p:nvSpPr>
        <p:spPr>
          <a:xfrm>
            <a:off x="6949440" y="1417320"/>
            <a:ext cx="2011680" cy="457200"/>
          </a:xfrm>
          <a:prstGeom prst="rect">
            <a:avLst/>
          </a:prstGeom>
          <a:solidFill>
            <a:srgbClr val="1A7A4A"/>
          </a:solidFill>
          <a:ln w="12700">
            <a:solidFill>
              <a:srgbClr val="1A7A4A"/>
            </a:solidFill>
            <a:prstDash val="solid"/>
          </a:ln>
        </p:spPr>
      </p:sp>
      <p:sp>
        <p:nvSpPr>
          <p:cNvPr id="35" name="Text 33"/>
          <p:cNvSpPr/>
          <p:nvPr/>
        </p:nvSpPr>
        <p:spPr>
          <a:xfrm>
            <a:off x="7040880" y="1417320"/>
            <a:ext cx="11887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36" name="Text 34"/>
          <p:cNvSpPr/>
          <p:nvPr/>
        </p:nvSpPr>
        <p:spPr>
          <a:xfrm>
            <a:off x="8229600" y="1417320"/>
            <a:ext cx="640080" cy="4572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25 card</a:t>
            </a:r>
            <a:endParaRPr lang="en-US" sz="900" dirty="0"/>
          </a:p>
        </p:txBody>
      </p:sp>
      <p:sp>
        <p:nvSpPr>
          <p:cNvPr id="37" name="Shape 35"/>
          <p:cNvSpPr/>
          <p:nvPr/>
        </p:nvSpPr>
        <p:spPr>
          <a:xfrm>
            <a:off x="6949440" y="1874520"/>
            <a:ext cx="2011680" cy="2560320"/>
          </a:xfrm>
          <a:prstGeom prst="rect">
            <a:avLst/>
          </a:prstGeom>
          <a:solidFill>
            <a:srgbClr val="F3F4F6"/>
          </a:solidFill>
          <a:ln w="6350">
            <a:solidFill>
              <a:srgbClr val="D1D5DB"/>
            </a:solidFill>
            <a:prstDash val="solid"/>
          </a:ln>
        </p:spPr>
      </p:sp>
      <p:sp>
        <p:nvSpPr>
          <p:cNvPr id="38" name="Shape 36"/>
          <p:cNvSpPr/>
          <p:nvPr/>
        </p:nvSpPr>
        <p:spPr>
          <a:xfrm>
            <a:off x="7040880" y="2011680"/>
            <a:ext cx="1828800" cy="365760"/>
          </a:xfrm>
          <a:prstGeom prst="rect">
            <a:avLst/>
          </a:prstGeom>
          <a:solidFill>
            <a:srgbClr val="FFFFFF"/>
          </a:solidFill>
          <a:ln w="5080">
            <a:solidFill>
              <a:srgbClr val="D1D5DB"/>
            </a:solidFill>
            <a:prstDash val="solid"/>
          </a:ln>
        </p:spPr>
      </p:sp>
      <p:sp>
        <p:nvSpPr>
          <p:cNvPr id="39" name="Text 37"/>
          <p:cNvSpPr/>
          <p:nvPr/>
        </p:nvSpPr>
        <p:spPr>
          <a:xfrm>
            <a:off x="7132320" y="20116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Login JWT</a:t>
            </a:r>
            <a:endParaRPr lang="en-US" sz="900" dirty="0"/>
          </a:p>
        </p:txBody>
      </p:sp>
      <p:sp>
        <p:nvSpPr>
          <p:cNvPr id="40" name="Shape 38"/>
          <p:cNvSpPr/>
          <p:nvPr/>
        </p:nvSpPr>
        <p:spPr>
          <a:xfrm>
            <a:off x="7040880" y="2468880"/>
            <a:ext cx="1828800" cy="365760"/>
          </a:xfrm>
          <a:prstGeom prst="rect">
            <a:avLst/>
          </a:prstGeom>
          <a:solidFill>
            <a:srgbClr val="FFFFFF"/>
          </a:solidFill>
          <a:ln w="5080">
            <a:solidFill>
              <a:srgbClr val="D1D5DB"/>
            </a:solidFill>
            <a:prstDash val="solid"/>
          </a:ln>
        </p:spPr>
      </p:sp>
      <p:sp>
        <p:nvSpPr>
          <p:cNvPr id="41" name="Text 39"/>
          <p:cNvSpPr/>
          <p:nvPr/>
        </p:nvSpPr>
        <p:spPr>
          <a:xfrm>
            <a:off x="7132320" y="24688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Catalogo partite</a:t>
            </a:r>
            <a:endParaRPr lang="en-US" sz="900" dirty="0"/>
          </a:p>
        </p:txBody>
      </p:sp>
      <p:sp>
        <p:nvSpPr>
          <p:cNvPr id="42" name="Shape 40"/>
          <p:cNvSpPr/>
          <p:nvPr/>
        </p:nvSpPr>
        <p:spPr>
          <a:xfrm>
            <a:off x="7040880" y="2926080"/>
            <a:ext cx="1828800" cy="365760"/>
          </a:xfrm>
          <a:prstGeom prst="rect">
            <a:avLst/>
          </a:prstGeom>
          <a:solidFill>
            <a:srgbClr val="FFFFFF"/>
          </a:solidFill>
          <a:ln w="5080">
            <a:solidFill>
              <a:srgbClr val="D1D5DB"/>
            </a:solidFill>
            <a:prstDash val="solid"/>
          </a:ln>
        </p:spPr>
      </p:sp>
      <p:sp>
        <p:nvSpPr>
          <p:cNvPr id="43" name="Text 41"/>
          <p:cNvSpPr/>
          <p:nvPr/>
        </p:nvSpPr>
        <p:spPr>
          <a:xfrm>
            <a:off x="7132320" y="29260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Acquisto biglietto</a:t>
            </a:r>
            <a:endParaRPr lang="en-US" sz="900" dirty="0"/>
          </a:p>
        </p:txBody>
      </p:sp>
      <p:sp>
        <p:nvSpPr>
          <p:cNvPr id="44" name="Shape 42"/>
          <p:cNvSpPr/>
          <p:nvPr/>
        </p:nvSpPr>
        <p:spPr>
          <a:xfrm>
            <a:off x="7040880" y="3383280"/>
            <a:ext cx="1828800" cy="365760"/>
          </a:xfrm>
          <a:prstGeom prst="rect">
            <a:avLst/>
          </a:prstGeom>
          <a:solidFill>
            <a:srgbClr val="FFFFFF"/>
          </a:solidFill>
          <a:ln w="5080">
            <a:solidFill>
              <a:srgbClr val="D1D5DB"/>
            </a:solidFill>
            <a:prstDash val="solid"/>
          </a:ln>
        </p:spPr>
      </p:sp>
      <p:sp>
        <p:nvSpPr>
          <p:cNvPr id="45" name="Text 43"/>
          <p:cNvSpPr/>
          <p:nvPr/>
        </p:nvSpPr>
        <p:spPr>
          <a:xfrm>
            <a:off x="7132320" y="33832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Abbonamenti</a:t>
            </a:r>
            <a:endParaRPr lang="en-US" sz="900" dirty="0"/>
          </a:p>
        </p:txBody>
      </p:sp>
      <p:sp>
        <p:nvSpPr>
          <p:cNvPr id="46" name="Shape 44"/>
          <p:cNvSpPr/>
          <p:nvPr/>
        </p:nvSpPr>
        <p:spPr>
          <a:xfrm>
            <a:off x="7040880" y="3840480"/>
            <a:ext cx="1828800" cy="365760"/>
          </a:xfrm>
          <a:prstGeom prst="rect">
            <a:avLst/>
          </a:prstGeom>
          <a:solidFill>
            <a:srgbClr val="FFFFFF"/>
          </a:solidFill>
          <a:ln w="5080">
            <a:solidFill>
              <a:srgbClr val="D1D5DB"/>
            </a:solidFill>
            <a:prstDash val="solid"/>
          </a:ln>
        </p:spPr>
      </p:sp>
      <p:sp>
        <p:nvSpPr>
          <p:cNvPr id="47" name="Text 45"/>
          <p:cNvSpPr/>
          <p:nvPr/>
        </p:nvSpPr>
        <p:spPr>
          <a:xfrm>
            <a:off x="7132320" y="3840480"/>
            <a:ext cx="1645920" cy="365760"/>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Promozioni</a:t>
            </a:r>
            <a:endParaRPr lang="en-US" sz="900" dirty="0"/>
          </a:p>
        </p:txBody>
      </p:sp>
      <p:sp>
        <p:nvSpPr>
          <p:cNvPr id="48" name="Shape 46"/>
          <p:cNvSpPr/>
          <p:nvPr/>
        </p:nvSpPr>
        <p:spPr>
          <a:xfrm>
            <a:off x="365760" y="4160520"/>
            <a:ext cx="8412480" cy="594360"/>
          </a:xfrm>
          <a:prstGeom prst="roundRect">
            <a:avLst>
              <a:gd name="adj" fmla="val 7692"/>
            </a:avLst>
          </a:prstGeom>
          <a:solidFill>
            <a:srgbClr val="E8F5EE"/>
          </a:solidFill>
          <a:ln w="6350">
            <a:solidFill>
              <a:srgbClr val="1A7A4A"/>
            </a:solidFill>
            <a:prstDash val="solid"/>
          </a:ln>
        </p:spPr>
      </p:sp>
      <p:sp>
        <p:nvSpPr>
          <p:cNvPr id="49" name="Text 47"/>
          <p:cNvSpPr/>
          <p:nvPr/>
        </p:nvSpPr>
        <p:spPr>
          <a:xfrm>
            <a:off x="502920" y="4160520"/>
            <a:ext cx="8229600" cy="594360"/>
          </a:xfrm>
          <a:prstGeom prst="rect">
            <a:avLst/>
          </a:prstGeom>
          <a:noFill/>
          <a:ln/>
        </p:spPr>
        <p:txBody>
          <a:bodyPr wrap="square" lIns="0" tIns="0" rIns="0" bIns="0" rtlCol="0" anchor="ctr"/>
          <a:lstStyle/>
          <a:p>
            <a:pPr indent="0" marL="0">
              <a:buNone/>
            </a:pPr>
            <a:r>
              <a:rPr lang="en-US" sz="1100" b="1" dirty="0">
                <a:solidFill>
                  <a:srgbClr val="1A7A4A"/>
                </a:solidFill>
                <a:latin typeface="Calibri" pitchFamily="34" charset="0"/>
                <a:ea typeface="Calibri" pitchFamily="34" charset="-122"/>
                <a:cs typeface="Calibri" pitchFamily="34" charset="-120"/>
              </a:rPr>
              <a:t>Convenzione user story: </a:t>
            </a:r>
            <a:pPr indent="0" marL="0">
              <a:buNone/>
            </a:pPr>
            <a:r>
              <a:rPr lang="en-US" sz="1100" dirty="0">
                <a:solidFill>
                  <a:srgbClr val="374151"/>
                </a:solidFill>
                <a:latin typeface="Calibri" pitchFamily="34" charset="0"/>
                <a:ea typeface="Calibri" pitchFamily="34" charset="-122"/>
                <a:cs typeface="Calibri" pitchFamily="34" charset="-120"/>
              </a:rPr>
              <a:t>"Come [ruolo], voglio [funzionalità] in modo da [beneficio]" + criteri di accettazione + etichetta priorità (alta/media/bassa).</a:t>
            </a:r>
            <a:endParaRPr lang="en-US" sz="1100" dirty="0"/>
          </a:p>
        </p:txBody>
      </p:sp>
      <p:sp>
        <p:nvSpPr>
          <p:cNvPr id="50" name="Text 48"/>
          <p:cNvSpPr/>
          <p:nvPr/>
        </p:nvSpPr>
        <p:spPr>
          <a:xfrm>
            <a:off x="365760" y="4823460"/>
            <a:ext cx="54864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TicketStadio · Ingegneria del Software</a:t>
            </a:r>
            <a:endParaRPr lang="en-US" sz="900" dirty="0"/>
          </a:p>
        </p:txBody>
      </p:sp>
      <p:sp>
        <p:nvSpPr>
          <p:cNvPr id="51" name="Text 49"/>
          <p:cNvSpPr/>
          <p:nvPr/>
        </p:nvSpPr>
        <p:spPr>
          <a:xfrm>
            <a:off x="8229600" y="4823460"/>
            <a:ext cx="54864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365760" y="320040"/>
            <a:ext cx="7315200" cy="50292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Test cases</a:t>
            </a:r>
            <a:endParaRPr lang="en-US" sz="2800" dirty="0"/>
          </a:p>
        </p:txBody>
      </p:sp>
      <p:sp>
        <p:nvSpPr>
          <p:cNvPr id="3" name="Text 1"/>
          <p:cNvSpPr/>
          <p:nvPr/>
        </p:nvSpPr>
        <p:spPr>
          <a:xfrm>
            <a:off x="365760" y="841248"/>
            <a:ext cx="8229600" cy="27432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23 test su 3 livelli — eseguiti con mvn test</a:t>
            </a:r>
            <a:endParaRPr lang="en-US" sz="1300" dirty="0"/>
          </a:p>
        </p:txBody>
      </p:sp>
      <p:sp>
        <p:nvSpPr>
          <p:cNvPr id="4" name="Shape 2"/>
          <p:cNvSpPr/>
          <p:nvPr/>
        </p:nvSpPr>
        <p:spPr>
          <a:xfrm>
            <a:off x="365760" y="1417320"/>
            <a:ext cx="2651760" cy="3200400"/>
          </a:xfrm>
          <a:prstGeom prst="roundRect">
            <a:avLst>
              <a:gd name="adj" fmla="val 2759"/>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365760" y="1417320"/>
            <a:ext cx="2651760" cy="502920"/>
          </a:xfrm>
          <a:prstGeom prst="rect">
            <a:avLst/>
          </a:prstGeom>
          <a:solidFill>
            <a:srgbClr val="1A7A4A"/>
          </a:solidFill>
          <a:ln w="12700">
            <a:solidFill>
              <a:srgbClr val="1A7A4A"/>
            </a:solidFill>
            <a:prstDash val="solid"/>
          </a:ln>
        </p:spPr>
      </p:sp>
      <p:sp>
        <p:nvSpPr>
          <p:cNvPr id="6" name="Text 4"/>
          <p:cNvSpPr/>
          <p:nvPr/>
        </p:nvSpPr>
        <p:spPr>
          <a:xfrm>
            <a:off x="502920" y="1417320"/>
            <a:ext cx="164592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Unit Test</a:t>
            </a:r>
            <a:endParaRPr lang="en-US" sz="1400" dirty="0"/>
          </a:p>
        </p:txBody>
      </p:sp>
      <p:sp>
        <p:nvSpPr>
          <p:cNvPr id="7" name="Text 5"/>
          <p:cNvSpPr/>
          <p:nvPr/>
        </p:nvSpPr>
        <p:spPr>
          <a:xfrm>
            <a:off x="2148840" y="1417320"/>
            <a:ext cx="777240" cy="50292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11 test</a:t>
            </a:r>
            <a:endParaRPr lang="en-US" sz="1100" dirty="0"/>
          </a:p>
        </p:txBody>
      </p:sp>
      <p:sp>
        <p:nvSpPr>
          <p:cNvPr id="8" name="Text 6"/>
          <p:cNvSpPr/>
          <p:nvPr/>
        </p:nvSpPr>
        <p:spPr>
          <a:xfrm>
            <a:off x="502920" y="2011680"/>
            <a:ext cx="2377440" cy="274320"/>
          </a:xfrm>
          <a:prstGeom prst="rect">
            <a:avLst/>
          </a:prstGeom>
          <a:noFill/>
          <a:ln/>
        </p:spPr>
        <p:txBody>
          <a:bodyPr wrap="square" lIns="0" tIns="0" rIns="0" bIns="0" rtlCol="0" anchor="ctr"/>
          <a:lstStyle/>
          <a:p>
            <a:pPr indent="0" marL="0">
              <a:buNone/>
            </a:pPr>
            <a:r>
              <a:rPr lang="en-US" sz="900" i="1" dirty="0">
                <a:solidFill>
                  <a:srgbClr val="6B7280"/>
                </a:solidFill>
                <a:latin typeface="Consolas" pitchFamily="34" charset="0"/>
                <a:ea typeface="Consolas" pitchFamily="34" charset="-122"/>
                <a:cs typeface="Consolas" pitchFamily="34" charset="-120"/>
              </a:rPr>
              <a:t>JUnit 5 + Mockito</a:t>
            </a:r>
            <a:endParaRPr lang="en-US" sz="900" dirty="0"/>
          </a:p>
        </p:txBody>
      </p:sp>
      <p:sp>
        <p:nvSpPr>
          <p:cNvPr id="9" name="Text 7"/>
          <p:cNvSpPr/>
          <p:nvPr/>
        </p:nvSpPr>
        <p:spPr>
          <a:xfrm>
            <a:off x="502920" y="2286000"/>
            <a:ext cx="2377440" cy="914400"/>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BigliettoServiceTest, PromozioneIsValidaTest. Isolano il service mockando i repository.</a:t>
            </a:r>
            <a:endParaRPr lang="en-US" sz="1000" dirty="0"/>
          </a:p>
        </p:txBody>
      </p:sp>
      <p:sp>
        <p:nvSpPr>
          <p:cNvPr id="10" name="Text 8"/>
          <p:cNvSpPr/>
          <p:nvPr/>
        </p:nvSpPr>
        <p:spPr>
          <a:xfrm>
            <a:off x="502920" y="3291840"/>
            <a:ext cx="2377440" cy="1280160"/>
          </a:xfrm>
          <a:prstGeom prst="rect">
            <a:avLst/>
          </a:prstGeom>
          <a:noFill/>
          <a:ln/>
        </p:spPr>
        <p:txBody>
          <a:bodyPr wrap="square" rtlCol="0" anchor="ctr"/>
          <a:lstStyle/>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Acquisto senza promo</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Acquisto con sconto 10%</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Posto occupato → eccezione</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Partita annullata → blocco</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Promo scaduta → rifiuto</a:t>
            </a:r>
            <a:endParaRPr lang="en-US" sz="900" dirty="0"/>
          </a:p>
        </p:txBody>
      </p:sp>
      <p:sp>
        <p:nvSpPr>
          <p:cNvPr id="11" name="Shape 9"/>
          <p:cNvSpPr/>
          <p:nvPr/>
        </p:nvSpPr>
        <p:spPr>
          <a:xfrm>
            <a:off x="3246120" y="1417320"/>
            <a:ext cx="2651760" cy="3200400"/>
          </a:xfrm>
          <a:prstGeom prst="roundRect">
            <a:avLst>
              <a:gd name="adj" fmla="val 2759"/>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sp>
        <p:nvSpPr>
          <p:cNvPr id="12" name="Shape 10"/>
          <p:cNvSpPr/>
          <p:nvPr/>
        </p:nvSpPr>
        <p:spPr>
          <a:xfrm>
            <a:off x="3246120" y="1417320"/>
            <a:ext cx="2651760" cy="502920"/>
          </a:xfrm>
          <a:prstGeom prst="rect">
            <a:avLst/>
          </a:prstGeom>
          <a:solidFill>
            <a:srgbClr val="1A7A4A"/>
          </a:solidFill>
          <a:ln w="12700">
            <a:solidFill>
              <a:srgbClr val="1A7A4A"/>
            </a:solidFill>
            <a:prstDash val="solid"/>
          </a:ln>
        </p:spPr>
      </p:sp>
      <p:sp>
        <p:nvSpPr>
          <p:cNvPr id="13" name="Text 11"/>
          <p:cNvSpPr/>
          <p:nvPr/>
        </p:nvSpPr>
        <p:spPr>
          <a:xfrm>
            <a:off x="3383280" y="1417320"/>
            <a:ext cx="164592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Slice Test</a:t>
            </a:r>
            <a:endParaRPr lang="en-US" sz="1400" dirty="0"/>
          </a:p>
        </p:txBody>
      </p:sp>
      <p:sp>
        <p:nvSpPr>
          <p:cNvPr id="14" name="Text 12"/>
          <p:cNvSpPr/>
          <p:nvPr/>
        </p:nvSpPr>
        <p:spPr>
          <a:xfrm>
            <a:off x="5029200" y="1417320"/>
            <a:ext cx="777240" cy="50292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7 test</a:t>
            </a:r>
            <a:endParaRPr lang="en-US" sz="1100" dirty="0"/>
          </a:p>
        </p:txBody>
      </p:sp>
      <p:sp>
        <p:nvSpPr>
          <p:cNvPr id="15" name="Text 13"/>
          <p:cNvSpPr/>
          <p:nvPr/>
        </p:nvSpPr>
        <p:spPr>
          <a:xfrm>
            <a:off x="3383280" y="2011680"/>
            <a:ext cx="2377440" cy="274320"/>
          </a:xfrm>
          <a:prstGeom prst="rect">
            <a:avLst/>
          </a:prstGeom>
          <a:noFill/>
          <a:ln/>
        </p:spPr>
        <p:txBody>
          <a:bodyPr wrap="square" lIns="0" tIns="0" rIns="0" bIns="0" rtlCol="0" anchor="ctr"/>
          <a:lstStyle/>
          <a:p>
            <a:pPr indent="0" marL="0">
              <a:buNone/>
            </a:pPr>
            <a:r>
              <a:rPr lang="en-US" sz="900" i="1" dirty="0">
                <a:solidFill>
                  <a:srgbClr val="6B7280"/>
                </a:solidFill>
                <a:latin typeface="Consolas" pitchFamily="34" charset="0"/>
                <a:ea typeface="Consolas" pitchFamily="34" charset="-122"/>
                <a:cs typeface="Consolas" pitchFamily="34" charset="-120"/>
              </a:rPr>
              <a:t>@DataJpaTest + H2</a:t>
            </a:r>
            <a:endParaRPr lang="en-US" sz="900" dirty="0"/>
          </a:p>
        </p:txBody>
      </p:sp>
      <p:sp>
        <p:nvSpPr>
          <p:cNvPr id="16" name="Text 14"/>
          <p:cNvSpPr/>
          <p:nvPr/>
        </p:nvSpPr>
        <p:spPr>
          <a:xfrm>
            <a:off x="3383280" y="2286000"/>
            <a:ext cx="2377440" cy="914400"/>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RepositoryTest. Avvia H2 in-memory, verifica le query JPA contro schema reale.</a:t>
            </a:r>
            <a:endParaRPr lang="en-US" sz="1000" dirty="0"/>
          </a:p>
        </p:txBody>
      </p:sp>
      <p:sp>
        <p:nvSpPr>
          <p:cNvPr id="17" name="Text 15"/>
          <p:cNvSpPr/>
          <p:nvPr/>
        </p:nvSpPr>
        <p:spPr>
          <a:xfrm>
            <a:off x="3383280" y="3291840"/>
            <a:ext cx="2377440" cy="1280160"/>
          </a:xfrm>
          <a:prstGeom prst="rect">
            <a:avLst/>
          </a:prstGeom>
          <a:noFill/>
          <a:ln/>
        </p:spPr>
        <p:txBody>
          <a:bodyPr wrap="square" rtlCol="0" anchor="ctr"/>
          <a:lstStyle/>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findByEmail trovato</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existsByEmail</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Posto libero/occupato</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findPostiOccupatiByPartita</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findByCodice promo</a:t>
            </a:r>
            <a:endParaRPr lang="en-US" sz="900" dirty="0"/>
          </a:p>
        </p:txBody>
      </p:sp>
      <p:sp>
        <p:nvSpPr>
          <p:cNvPr id="18" name="Shape 16"/>
          <p:cNvSpPr/>
          <p:nvPr/>
        </p:nvSpPr>
        <p:spPr>
          <a:xfrm>
            <a:off x="6126480" y="1417320"/>
            <a:ext cx="2651760" cy="3200400"/>
          </a:xfrm>
          <a:prstGeom prst="roundRect">
            <a:avLst>
              <a:gd name="adj" fmla="val 2759"/>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sp>
        <p:nvSpPr>
          <p:cNvPr id="19" name="Shape 17"/>
          <p:cNvSpPr/>
          <p:nvPr/>
        </p:nvSpPr>
        <p:spPr>
          <a:xfrm>
            <a:off x="6126480" y="1417320"/>
            <a:ext cx="2651760" cy="502920"/>
          </a:xfrm>
          <a:prstGeom prst="rect">
            <a:avLst/>
          </a:prstGeom>
          <a:solidFill>
            <a:srgbClr val="1A7A4A"/>
          </a:solidFill>
          <a:ln w="12700">
            <a:solidFill>
              <a:srgbClr val="1A7A4A"/>
            </a:solidFill>
            <a:prstDash val="solid"/>
          </a:ln>
        </p:spPr>
      </p:sp>
      <p:sp>
        <p:nvSpPr>
          <p:cNvPr id="20" name="Text 18"/>
          <p:cNvSpPr/>
          <p:nvPr/>
        </p:nvSpPr>
        <p:spPr>
          <a:xfrm>
            <a:off x="6263640" y="1417320"/>
            <a:ext cx="164592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Integration Test</a:t>
            </a:r>
            <a:endParaRPr lang="en-US" sz="1400" dirty="0"/>
          </a:p>
        </p:txBody>
      </p:sp>
      <p:sp>
        <p:nvSpPr>
          <p:cNvPr id="21" name="Text 19"/>
          <p:cNvSpPr/>
          <p:nvPr/>
        </p:nvSpPr>
        <p:spPr>
          <a:xfrm>
            <a:off x="7909560" y="1417320"/>
            <a:ext cx="777240" cy="50292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5 test</a:t>
            </a:r>
            <a:endParaRPr lang="en-US" sz="1100" dirty="0"/>
          </a:p>
        </p:txBody>
      </p:sp>
      <p:sp>
        <p:nvSpPr>
          <p:cNvPr id="22" name="Text 20"/>
          <p:cNvSpPr/>
          <p:nvPr/>
        </p:nvSpPr>
        <p:spPr>
          <a:xfrm>
            <a:off x="6263640" y="2011680"/>
            <a:ext cx="2377440" cy="274320"/>
          </a:xfrm>
          <a:prstGeom prst="rect">
            <a:avLst/>
          </a:prstGeom>
          <a:noFill/>
          <a:ln/>
        </p:spPr>
        <p:txBody>
          <a:bodyPr wrap="square" lIns="0" tIns="0" rIns="0" bIns="0" rtlCol="0" anchor="ctr"/>
          <a:lstStyle/>
          <a:p>
            <a:pPr indent="0" marL="0">
              <a:buNone/>
            </a:pPr>
            <a:r>
              <a:rPr lang="en-US" sz="900" i="1" dirty="0">
                <a:solidFill>
                  <a:srgbClr val="6B7280"/>
                </a:solidFill>
                <a:latin typeface="Consolas" pitchFamily="34" charset="0"/>
                <a:ea typeface="Consolas" pitchFamily="34" charset="-122"/>
                <a:cs typeface="Consolas" pitchFamily="34" charset="-120"/>
              </a:rPr>
              <a:t>@SpringBootTest + MockMvc</a:t>
            </a:r>
            <a:endParaRPr lang="en-US" sz="900" dirty="0"/>
          </a:p>
        </p:txBody>
      </p:sp>
      <p:sp>
        <p:nvSpPr>
          <p:cNvPr id="23" name="Text 21"/>
          <p:cNvSpPr/>
          <p:nvPr/>
        </p:nvSpPr>
        <p:spPr>
          <a:xfrm>
            <a:off x="6263640" y="2286000"/>
            <a:ext cx="2377440" cy="914400"/>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AuthControllerTest. Avvia il contesto Spring completo, simula richieste HTTP reali.</a:t>
            </a:r>
            <a:endParaRPr lang="en-US" sz="1000" dirty="0"/>
          </a:p>
        </p:txBody>
      </p:sp>
      <p:sp>
        <p:nvSpPr>
          <p:cNvPr id="24" name="Text 22"/>
          <p:cNvSpPr/>
          <p:nvPr/>
        </p:nvSpPr>
        <p:spPr>
          <a:xfrm>
            <a:off x="6263640" y="3291840"/>
            <a:ext cx="2377440" cy="1280160"/>
          </a:xfrm>
          <a:prstGeom prst="rect">
            <a:avLst/>
          </a:prstGeom>
          <a:noFill/>
          <a:ln/>
        </p:spPr>
        <p:txBody>
          <a:bodyPr wrap="square" rtlCol="0" anchor="ctr"/>
          <a:lstStyle/>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POST /register → 201</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POST /register email dup → 400</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POST /login valido → JWT</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POST /login pwd errata → 401</a:t>
            </a:r>
            <a:endParaRPr lang="en-US" sz="900" dirty="0"/>
          </a:p>
          <a:p>
            <a:pPr marL="342900" indent="-342900">
              <a:spcAft>
                <a:spcPts val="200"/>
              </a:spcAft>
              <a:buSzPct val="100000"/>
              <a:buChar char="•"/>
            </a:pPr>
            <a:r>
              <a:rPr lang="en-US" sz="900" dirty="0">
                <a:solidFill>
                  <a:srgbClr val="111827"/>
                </a:solidFill>
                <a:latin typeface="Calibri" pitchFamily="34" charset="0"/>
                <a:ea typeface="Calibri" pitchFamily="34" charset="-122"/>
                <a:cs typeface="Calibri" pitchFamily="34" charset="-120"/>
              </a:rPr>
              <a:t>Validazione password corta</a:t>
            </a:r>
            <a:endParaRPr lang="en-US" sz="900" dirty="0"/>
          </a:p>
        </p:txBody>
      </p:sp>
      <p:sp>
        <p:nvSpPr>
          <p:cNvPr id="25" name="Shape 23"/>
          <p:cNvSpPr/>
          <p:nvPr/>
        </p:nvSpPr>
        <p:spPr>
          <a:xfrm>
            <a:off x="365760" y="4526280"/>
            <a:ext cx="8412480" cy="274320"/>
          </a:xfrm>
          <a:prstGeom prst="roundRect">
            <a:avLst>
              <a:gd name="adj" fmla="val 13333"/>
            </a:avLst>
          </a:prstGeom>
          <a:solidFill>
            <a:srgbClr val="111827"/>
          </a:solidFill>
          <a:ln w="12700">
            <a:solidFill>
              <a:srgbClr val="111827"/>
            </a:solidFill>
            <a:prstDash val="solid"/>
          </a:ln>
        </p:spPr>
      </p:sp>
      <p:sp>
        <p:nvSpPr>
          <p:cNvPr id="26" name="Text 24"/>
          <p:cNvSpPr/>
          <p:nvPr/>
        </p:nvSpPr>
        <p:spPr>
          <a:xfrm>
            <a:off x="502920" y="4526280"/>
            <a:ext cx="8229600" cy="274320"/>
          </a:xfrm>
          <a:prstGeom prst="rect">
            <a:avLst/>
          </a:prstGeom>
          <a:noFill/>
          <a:ln/>
        </p:spPr>
        <p:txBody>
          <a:bodyPr wrap="square" lIns="0" tIns="0" rIns="0" bIns="0" rtlCol="0" anchor="ctr"/>
          <a:lstStyle/>
          <a:p>
            <a:pPr indent="0" marL="0">
              <a:buNone/>
            </a:pPr>
            <a:r>
              <a:rPr lang="en-US" sz="1000" dirty="0">
                <a:solidFill>
                  <a:srgbClr val="10B981"/>
                </a:solidFill>
                <a:latin typeface="Consolas" pitchFamily="34" charset="0"/>
                <a:ea typeface="Consolas" pitchFamily="34" charset="-122"/>
                <a:cs typeface="Consolas" pitchFamily="34" charset="-120"/>
              </a:rPr>
              <a:t>$ cd backend &amp;&amp; mvn test     →     Tests run: 23, Failures: 0, Errors: 0, Skipped: 0</a:t>
            </a:r>
            <a:endParaRPr lang="en-US" sz="1000" dirty="0"/>
          </a:p>
        </p:txBody>
      </p:sp>
      <p:sp>
        <p:nvSpPr>
          <p:cNvPr id="27" name="Text 25"/>
          <p:cNvSpPr/>
          <p:nvPr/>
        </p:nvSpPr>
        <p:spPr>
          <a:xfrm>
            <a:off x="365760" y="4823460"/>
            <a:ext cx="54864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TicketStadio · Ingegneria del Software</a:t>
            </a:r>
            <a:endParaRPr lang="en-US" sz="900" dirty="0"/>
          </a:p>
        </p:txBody>
      </p:sp>
      <p:sp>
        <p:nvSpPr>
          <p:cNvPr id="28" name="Text 26"/>
          <p:cNvSpPr/>
          <p:nvPr/>
        </p:nvSpPr>
        <p:spPr>
          <a:xfrm>
            <a:off x="8229600" y="4823460"/>
            <a:ext cx="54864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365760" y="320040"/>
            <a:ext cx="7315200" cy="50292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Disegno architetturale</a:t>
            </a:r>
            <a:endParaRPr lang="en-US" sz="2800" dirty="0"/>
          </a:p>
        </p:txBody>
      </p:sp>
      <p:sp>
        <p:nvSpPr>
          <p:cNvPr id="3" name="Text 1"/>
          <p:cNvSpPr/>
          <p:nvPr/>
        </p:nvSpPr>
        <p:spPr>
          <a:xfrm>
            <a:off x="365760" y="841248"/>
            <a:ext cx="8229600" cy="27432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Architettura a 3 livelli con pattern MVC e Repository</a:t>
            </a:r>
            <a:endParaRPr lang="en-US" sz="1300" dirty="0"/>
          </a:p>
        </p:txBody>
      </p:sp>
      <p:sp>
        <p:nvSpPr>
          <p:cNvPr id="4" name="Shape 2"/>
          <p:cNvSpPr/>
          <p:nvPr/>
        </p:nvSpPr>
        <p:spPr>
          <a:xfrm>
            <a:off x="365760" y="1463040"/>
            <a:ext cx="2468880" cy="2926080"/>
          </a:xfrm>
          <a:prstGeom prst="roundRect">
            <a:avLst>
              <a:gd name="adj" fmla="val 2963"/>
            </a:avLst>
          </a:prstGeom>
          <a:solidFill>
            <a:srgbClr val="111827"/>
          </a:solidFill>
          <a:ln w="12700">
            <a:solidFill>
              <a:srgbClr val="111827"/>
            </a:solidFill>
            <a:prstDash val="solid"/>
          </a:ln>
          <a:effectLst>
            <a:outerShdw sx="100000" sy="100000" kx="0" ky="0" algn="bl" rotWithShape="0" blurRad="101600" dist="25400" dir="54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1417320" y="1600200"/>
            <a:ext cx="411480" cy="411480"/>
          </a:xfrm>
          <a:prstGeom prst="rect">
            <a:avLst/>
          </a:prstGeom>
        </p:spPr>
      </p:pic>
      <p:sp>
        <p:nvSpPr>
          <p:cNvPr id="6" name="Text 3"/>
          <p:cNvSpPr/>
          <p:nvPr/>
        </p:nvSpPr>
        <p:spPr>
          <a:xfrm>
            <a:off x="365760" y="2103120"/>
            <a:ext cx="2468880" cy="320040"/>
          </a:xfrm>
          <a:prstGeom prst="rect">
            <a:avLst/>
          </a:prstGeom>
          <a:noFill/>
          <a:ln/>
        </p:spPr>
        <p:txBody>
          <a:bodyPr wrap="square" lIns="0" tIns="0" rIns="0" bIns="0" rtlCol="0" anchor="ctr"/>
          <a:lstStyle/>
          <a:p>
            <a:pPr algn="ctr" indent="0" marL="0">
              <a:buNone/>
            </a:pPr>
            <a:r>
              <a:rPr lang="en-US" sz="1300" b="1" dirty="0">
                <a:solidFill>
                  <a:srgbClr val="25A863"/>
                </a:solidFill>
                <a:latin typeface="Calibri" pitchFamily="34" charset="0"/>
                <a:ea typeface="Calibri" pitchFamily="34" charset="-122"/>
                <a:cs typeface="Calibri" pitchFamily="34" charset="-120"/>
              </a:rPr>
              <a:t>CLIENT</a:t>
            </a:r>
            <a:endParaRPr lang="en-US" sz="1300" dirty="0"/>
          </a:p>
        </p:txBody>
      </p:sp>
      <p:sp>
        <p:nvSpPr>
          <p:cNvPr id="7" name="Text 4"/>
          <p:cNvSpPr/>
          <p:nvPr/>
        </p:nvSpPr>
        <p:spPr>
          <a:xfrm>
            <a:off x="365760" y="2377440"/>
            <a:ext cx="2468880" cy="274320"/>
          </a:xfrm>
          <a:prstGeom prst="rect">
            <a:avLst/>
          </a:prstGeom>
          <a:noFill/>
          <a:ln/>
        </p:spPr>
        <p:txBody>
          <a:bodyPr wrap="square" lIns="0" tIns="0" rIns="0" bIns="0" rtlCol="0" anchor="ctr"/>
          <a:lstStyle/>
          <a:p>
            <a:pPr algn="ctr" indent="0" marL="0">
              <a:buNone/>
            </a:pPr>
            <a:r>
              <a:rPr lang="en-US" sz="1000" i="1" dirty="0">
                <a:solidFill>
                  <a:srgbClr val="9CA3AF"/>
                </a:solidFill>
                <a:latin typeface="Calibri" pitchFamily="34" charset="0"/>
                <a:ea typeface="Calibri" pitchFamily="34" charset="-122"/>
                <a:cs typeface="Calibri" pitchFamily="34" charset="-120"/>
              </a:rPr>
              <a:t>Browser web</a:t>
            </a:r>
            <a:endParaRPr lang="en-US" sz="1000" dirty="0"/>
          </a:p>
        </p:txBody>
      </p:sp>
      <p:sp>
        <p:nvSpPr>
          <p:cNvPr id="8" name="Text 5"/>
          <p:cNvSpPr/>
          <p:nvPr/>
        </p:nvSpPr>
        <p:spPr>
          <a:xfrm>
            <a:off x="502920" y="2788920"/>
            <a:ext cx="2194560" cy="1554480"/>
          </a:xfrm>
          <a:prstGeom prst="rect">
            <a:avLst/>
          </a:prstGeom>
          <a:noFill/>
          <a:ln/>
        </p:spPr>
        <p:txBody>
          <a:bodyPr wrap="square" rtlCol="0" anchor="ctr"/>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HTML5</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CSS3 (custom prop.)</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JS vanilla (3 moduli)</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fetch() + JWT</a:t>
            </a:r>
            <a:endParaRPr lang="en-US" sz="1000" dirty="0"/>
          </a:p>
        </p:txBody>
      </p:sp>
      <p:sp>
        <p:nvSpPr>
          <p:cNvPr id="9" name="Shape 6"/>
          <p:cNvSpPr/>
          <p:nvPr/>
        </p:nvSpPr>
        <p:spPr>
          <a:xfrm>
            <a:off x="3337560" y="1463040"/>
            <a:ext cx="2468880" cy="2926080"/>
          </a:xfrm>
          <a:prstGeom prst="roundRect">
            <a:avLst>
              <a:gd name="adj" fmla="val 2963"/>
            </a:avLst>
          </a:prstGeom>
          <a:solidFill>
            <a:srgbClr val="1A7A4A"/>
          </a:solidFill>
          <a:ln w="12700">
            <a:solidFill>
              <a:srgbClr val="1A7A4A"/>
            </a:solidFill>
            <a:prstDash val="solid"/>
          </a:ln>
          <a:effectLst>
            <a:outerShdw sx="100000" sy="100000" kx="0" ky="0" algn="bl" rotWithShape="0" blurRad="101600" dist="25400" dir="5400000">
              <a:srgbClr val="000000">
                <a:alpha val="10000"/>
              </a:srgbClr>
            </a:outerShdw>
          </a:effectLst>
        </p:spPr>
      </p:sp>
      <p:pic>
        <p:nvPicPr>
          <p:cNvPr id="10" name="Image 1" descr="preencoded.png">    </p:cNvPr>
          <p:cNvPicPr>
            <a:picLocks noChangeAspect="1"/>
          </p:cNvPicPr>
          <p:nvPr/>
        </p:nvPicPr>
        <p:blipFill>
          <a:blip r:embed="rId2"/>
          <a:stretch>
            <a:fillRect/>
          </a:stretch>
        </p:blipFill>
        <p:spPr>
          <a:xfrm>
            <a:off x="4389120" y="1600200"/>
            <a:ext cx="411480" cy="411480"/>
          </a:xfrm>
          <a:prstGeom prst="rect">
            <a:avLst/>
          </a:prstGeom>
        </p:spPr>
      </p:pic>
      <p:sp>
        <p:nvSpPr>
          <p:cNvPr id="11" name="Text 7"/>
          <p:cNvSpPr/>
          <p:nvPr/>
        </p:nvSpPr>
        <p:spPr>
          <a:xfrm>
            <a:off x="3337560" y="2103120"/>
            <a:ext cx="2468880" cy="320040"/>
          </a:xfrm>
          <a:prstGeom prst="rect">
            <a:avLst/>
          </a:prstGeom>
          <a:noFill/>
          <a:ln/>
        </p:spPr>
        <p:txBody>
          <a:bodyPr wrap="square" lIns="0" tIns="0" rIns="0" bIns="0" rtlCol="0" anchor="ctr"/>
          <a:lstStyle/>
          <a:p>
            <a:pPr algn="ctr" indent="0" marL="0">
              <a:buNone/>
            </a:pPr>
            <a:r>
              <a:rPr lang="en-US" sz="1300" b="1" dirty="0">
                <a:solidFill>
                  <a:srgbClr val="E8F5EE"/>
                </a:solidFill>
                <a:latin typeface="Calibri" pitchFamily="34" charset="0"/>
                <a:ea typeface="Calibri" pitchFamily="34" charset="-122"/>
                <a:cs typeface="Calibri" pitchFamily="34" charset="-120"/>
              </a:rPr>
              <a:t>SERVER</a:t>
            </a:r>
            <a:endParaRPr lang="en-US" sz="1300" dirty="0"/>
          </a:p>
        </p:txBody>
      </p:sp>
      <p:sp>
        <p:nvSpPr>
          <p:cNvPr id="12" name="Text 8"/>
          <p:cNvSpPr/>
          <p:nvPr/>
        </p:nvSpPr>
        <p:spPr>
          <a:xfrm>
            <a:off x="3337560" y="2377440"/>
            <a:ext cx="2468880" cy="274320"/>
          </a:xfrm>
          <a:prstGeom prst="rect">
            <a:avLst/>
          </a:prstGeom>
          <a:noFill/>
          <a:ln/>
        </p:spPr>
        <p:txBody>
          <a:bodyPr wrap="square" lIns="0" tIns="0" rIns="0" bIns="0" rtlCol="0" anchor="ctr"/>
          <a:lstStyle/>
          <a:p>
            <a:pPr algn="ctr" indent="0" marL="0">
              <a:buNone/>
            </a:pPr>
            <a:r>
              <a:rPr lang="en-US" sz="1000" i="1" dirty="0">
                <a:solidFill>
                  <a:srgbClr val="E8F5EE"/>
                </a:solidFill>
                <a:latin typeface="Calibri" pitchFamily="34" charset="0"/>
                <a:ea typeface="Calibri" pitchFamily="34" charset="-122"/>
                <a:cs typeface="Calibri" pitchFamily="34" charset="-120"/>
              </a:rPr>
              <a:t>Spring Boot 3.2</a:t>
            </a:r>
            <a:endParaRPr lang="en-US" sz="1000" dirty="0"/>
          </a:p>
        </p:txBody>
      </p:sp>
      <p:sp>
        <p:nvSpPr>
          <p:cNvPr id="13" name="Text 9"/>
          <p:cNvSpPr/>
          <p:nvPr/>
        </p:nvSpPr>
        <p:spPr>
          <a:xfrm>
            <a:off x="3474720" y="2788920"/>
            <a:ext cx="2194560" cy="1554480"/>
          </a:xfrm>
          <a:prstGeom prst="rect">
            <a:avLst/>
          </a:prstGeom>
          <a:noFill/>
          <a:ln/>
        </p:spPr>
        <p:txBody>
          <a:bodyPr wrap="square" rtlCol="0" anchor="ctr"/>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Controller (REST)</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Service (logic)</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Repository (JPA)</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Security (JWT filter)</a:t>
            </a:r>
            <a:endParaRPr lang="en-US" sz="1000" dirty="0"/>
          </a:p>
        </p:txBody>
      </p:sp>
      <p:sp>
        <p:nvSpPr>
          <p:cNvPr id="14" name="Shape 10"/>
          <p:cNvSpPr/>
          <p:nvPr/>
        </p:nvSpPr>
        <p:spPr>
          <a:xfrm>
            <a:off x="6309360" y="1463040"/>
            <a:ext cx="2468880" cy="2926080"/>
          </a:xfrm>
          <a:prstGeom prst="roundRect">
            <a:avLst>
              <a:gd name="adj" fmla="val 2963"/>
            </a:avLst>
          </a:prstGeom>
          <a:solidFill>
            <a:srgbClr val="374151"/>
          </a:solidFill>
          <a:ln w="12700">
            <a:solidFill>
              <a:srgbClr val="374151"/>
            </a:solidFill>
            <a:prstDash val="solid"/>
          </a:ln>
          <a:effectLst>
            <a:outerShdw sx="100000" sy="100000" kx="0" ky="0" algn="bl" rotWithShape="0" blurRad="101600" dist="25400" dir="5400000">
              <a:srgbClr val="000000">
                <a:alpha val="10000"/>
              </a:srgbClr>
            </a:outerShdw>
          </a:effectLst>
        </p:spPr>
      </p:sp>
      <p:pic>
        <p:nvPicPr>
          <p:cNvPr id="15" name="Image 2" descr="preencoded.png">    </p:cNvPr>
          <p:cNvPicPr>
            <a:picLocks noChangeAspect="1"/>
          </p:cNvPicPr>
          <p:nvPr/>
        </p:nvPicPr>
        <p:blipFill>
          <a:blip r:embed="rId3"/>
          <a:stretch>
            <a:fillRect/>
          </a:stretch>
        </p:blipFill>
        <p:spPr>
          <a:xfrm>
            <a:off x="7360920" y="1600200"/>
            <a:ext cx="411480" cy="411480"/>
          </a:xfrm>
          <a:prstGeom prst="rect">
            <a:avLst/>
          </a:prstGeom>
        </p:spPr>
      </p:pic>
      <p:sp>
        <p:nvSpPr>
          <p:cNvPr id="16" name="Text 11"/>
          <p:cNvSpPr/>
          <p:nvPr/>
        </p:nvSpPr>
        <p:spPr>
          <a:xfrm>
            <a:off x="6309360" y="2103120"/>
            <a:ext cx="2468880" cy="320040"/>
          </a:xfrm>
          <a:prstGeom prst="rect">
            <a:avLst/>
          </a:prstGeom>
          <a:noFill/>
          <a:ln/>
        </p:spPr>
        <p:txBody>
          <a:bodyPr wrap="square" lIns="0" tIns="0" rIns="0" bIns="0" rtlCol="0" anchor="ctr"/>
          <a:lstStyle/>
          <a:p>
            <a:pPr algn="ctr" indent="0" marL="0">
              <a:buNone/>
            </a:pPr>
            <a:r>
              <a:rPr lang="en-US" sz="1300" b="1" dirty="0">
                <a:solidFill>
                  <a:srgbClr val="25A863"/>
                </a:solidFill>
                <a:latin typeface="Calibri" pitchFamily="34" charset="0"/>
                <a:ea typeface="Calibri" pitchFamily="34" charset="-122"/>
                <a:cs typeface="Calibri" pitchFamily="34" charset="-120"/>
              </a:rPr>
              <a:t>DATABASE</a:t>
            </a:r>
            <a:endParaRPr lang="en-US" sz="1300" dirty="0"/>
          </a:p>
        </p:txBody>
      </p:sp>
      <p:sp>
        <p:nvSpPr>
          <p:cNvPr id="17" name="Text 12"/>
          <p:cNvSpPr/>
          <p:nvPr/>
        </p:nvSpPr>
        <p:spPr>
          <a:xfrm>
            <a:off x="6309360" y="2377440"/>
            <a:ext cx="2468880" cy="274320"/>
          </a:xfrm>
          <a:prstGeom prst="rect">
            <a:avLst/>
          </a:prstGeom>
          <a:noFill/>
          <a:ln/>
        </p:spPr>
        <p:txBody>
          <a:bodyPr wrap="square" lIns="0" tIns="0" rIns="0" bIns="0" rtlCol="0" anchor="ctr"/>
          <a:lstStyle/>
          <a:p>
            <a:pPr algn="ctr" indent="0" marL="0">
              <a:buNone/>
            </a:pPr>
            <a:r>
              <a:rPr lang="en-US" sz="1000" i="1" dirty="0">
                <a:solidFill>
                  <a:srgbClr val="9CA3AF"/>
                </a:solidFill>
                <a:latin typeface="Calibri" pitchFamily="34" charset="0"/>
                <a:ea typeface="Calibri" pitchFamily="34" charset="-122"/>
                <a:cs typeface="Calibri" pitchFamily="34" charset="-120"/>
              </a:rPr>
              <a:t>MySQL 8.0 InnoDB</a:t>
            </a:r>
            <a:endParaRPr lang="en-US" sz="1000" dirty="0"/>
          </a:p>
        </p:txBody>
      </p:sp>
      <p:sp>
        <p:nvSpPr>
          <p:cNvPr id="18" name="Text 13"/>
          <p:cNvSpPr/>
          <p:nvPr/>
        </p:nvSpPr>
        <p:spPr>
          <a:xfrm>
            <a:off x="6446520" y="2788920"/>
            <a:ext cx="2194560" cy="1554480"/>
          </a:xfrm>
          <a:prstGeom prst="rect">
            <a:avLst/>
          </a:prstGeom>
          <a:noFill/>
          <a:ln/>
        </p:spPr>
        <p:txBody>
          <a:bodyPr wrap="square" rtlCol="0" anchor="ctr"/>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10 tabelle (3FN)</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Vincoli UNIQUE</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Transazioni ACID</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ENUM tipizzati</a:t>
            </a:r>
            <a:endParaRPr lang="en-US" sz="1000" dirty="0"/>
          </a:p>
        </p:txBody>
      </p:sp>
      <p:sp>
        <p:nvSpPr>
          <p:cNvPr id="19" name="Shape 14"/>
          <p:cNvSpPr/>
          <p:nvPr/>
        </p:nvSpPr>
        <p:spPr>
          <a:xfrm>
            <a:off x="2834640" y="2926080"/>
            <a:ext cx="502920" cy="0"/>
          </a:xfrm>
          <a:prstGeom prst="line">
            <a:avLst/>
          </a:prstGeom>
          <a:noFill/>
          <a:ln w="25400">
            <a:solidFill>
              <a:srgbClr val="111827"/>
            </a:solidFill>
            <a:prstDash val="solid"/>
            <a:headEnd type="triangle"/>
            <a:tailEnd type="triangle"/>
          </a:ln>
        </p:spPr>
      </p:sp>
      <p:sp>
        <p:nvSpPr>
          <p:cNvPr id="20" name="Text 15"/>
          <p:cNvSpPr/>
          <p:nvPr/>
        </p:nvSpPr>
        <p:spPr>
          <a:xfrm>
            <a:off x="2743200" y="2697480"/>
            <a:ext cx="685800" cy="22860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HTTP/JSON</a:t>
            </a:r>
            <a:endParaRPr lang="en-US" sz="800" dirty="0"/>
          </a:p>
        </p:txBody>
      </p:sp>
      <p:sp>
        <p:nvSpPr>
          <p:cNvPr id="21" name="Shape 16"/>
          <p:cNvSpPr/>
          <p:nvPr/>
        </p:nvSpPr>
        <p:spPr>
          <a:xfrm>
            <a:off x="5806440" y="2926080"/>
            <a:ext cx="502920" cy="0"/>
          </a:xfrm>
          <a:prstGeom prst="line">
            <a:avLst/>
          </a:prstGeom>
          <a:noFill/>
          <a:ln w="25400">
            <a:solidFill>
              <a:srgbClr val="111827"/>
            </a:solidFill>
            <a:prstDash val="solid"/>
            <a:headEnd type="triangle"/>
            <a:tailEnd type="triangle"/>
          </a:ln>
        </p:spPr>
      </p:sp>
      <p:sp>
        <p:nvSpPr>
          <p:cNvPr id="22" name="Text 17"/>
          <p:cNvSpPr/>
          <p:nvPr/>
        </p:nvSpPr>
        <p:spPr>
          <a:xfrm>
            <a:off x="5760720" y="2697480"/>
            <a:ext cx="594360" cy="22860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JDBC</a:t>
            </a:r>
            <a:endParaRPr lang="en-US" sz="800" dirty="0"/>
          </a:p>
        </p:txBody>
      </p:sp>
      <p:sp>
        <p:nvSpPr>
          <p:cNvPr id="23" name="Text 18"/>
          <p:cNvSpPr/>
          <p:nvPr/>
        </p:nvSpPr>
        <p:spPr>
          <a:xfrm>
            <a:off x="457200" y="4572000"/>
            <a:ext cx="8229600" cy="365760"/>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Pattern adottati: </a:t>
            </a:r>
            <a:pPr indent="0" marL="0">
              <a:buNone/>
            </a:pPr>
            <a:r>
              <a:rPr lang="en-US" sz="1100" dirty="0">
                <a:solidFill>
                  <a:srgbClr val="374151"/>
                </a:solidFill>
                <a:latin typeface="Calibri" pitchFamily="34" charset="0"/>
                <a:ea typeface="Calibri" pitchFamily="34" charset="-122"/>
                <a:cs typeface="Calibri" pitchFamily="34" charset="-120"/>
              </a:rPr>
              <a:t>MVC server-side · Service Layer · Repository · DTO · Dependency Injection · REST resource-oriented · Stateless authentication.</a:t>
            </a:r>
            <a:endParaRPr lang="en-US" sz="1100" dirty="0"/>
          </a:p>
        </p:txBody>
      </p:sp>
      <p:sp>
        <p:nvSpPr>
          <p:cNvPr id="24" name="Text 19"/>
          <p:cNvSpPr/>
          <p:nvPr/>
        </p:nvSpPr>
        <p:spPr>
          <a:xfrm>
            <a:off x="365760" y="4823460"/>
            <a:ext cx="54864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TicketStadio · Ingegneria del Software</a:t>
            </a:r>
            <a:endParaRPr lang="en-US" sz="900" dirty="0"/>
          </a:p>
        </p:txBody>
      </p:sp>
      <p:sp>
        <p:nvSpPr>
          <p:cNvPr id="25" name="Text 20"/>
          <p:cNvSpPr/>
          <p:nvPr/>
        </p:nvSpPr>
        <p:spPr>
          <a:xfrm>
            <a:off x="8229600" y="4823460"/>
            <a:ext cx="54864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365760" y="320040"/>
            <a:ext cx="7315200" cy="50292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Funzionalità implementate</a:t>
            </a:r>
            <a:endParaRPr lang="en-US" sz="2800" dirty="0"/>
          </a:p>
        </p:txBody>
      </p:sp>
      <p:sp>
        <p:nvSpPr>
          <p:cNvPr id="3" name="Text 1"/>
          <p:cNvSpPr/>
          <p:nvPr/>
        </p:nvSpPr>
        <p:spPr>
          <a:xfrm>
            <a:off x="365760" y="841248"/>
            <a:ext cx="8229600" cy="27432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Elenco completo delle feature consegnate</a:t>
            </a:r>
            <a:endParaRPr lang="en-US" sz="1300" dirty="0"/>
          </a:p>
        </p:txBody>
      </p:sp>
      <p:sp>
        <p:nvSpPr>
          <p:cNvPr id="4" name="Shape 2"/>
          <p:cNvSpPr/>
          <p:nvPr/>
        </p:nvSpPr>
        <p:spPr>
          <a:xfrm>
            <a:off x="365760" y="1371600"/>
            <a:ext cx="4160520" cy="365760"/>
          </a:xfrm>
          <a:prstGeom prst="rect">
            <a:avLst/>
          </a:prstGeom>
          <a:solidFill>
            <a:srgbClr val="1A7A4A"/>
          </a:solidFill>
          <a:ln w="12700">
            <a:solidFill>
              <a:srgbClr val="1A7A4A"/>
            </a:solidFill>
            <a:prstDash val="solid"/>
          </a:ln>
        </p:spPr>
      </p:sp>
      <p:sp>
        <p:nvSpPr>
          <p:cNvPr id="5" name="Text 3"/>
          <p:cNvSpPr/>
          <p:nvPr/>
        </p:nvSpPr>
        <p:spPr>
          <a:xfrm>
            <a:off x="502920" y="1371600"/>
            <a:ext cx="4023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TIFOSO  (7 funzionalità)</a:t>
            </a:r>
            <a:endParaRPr lang="en-US" sz="1300" dirty="0"/>
          </a:p>
        </p:txBody>
      </p:sp>
      <p:sp>
        <p:nvSpPr>
          <p:cNvPr id="6" name="Shape 4"/>
          <p:cNvSpPr/>
          <p:nvPr/>
        </p:nvSpPr>
        <p:spPr>
          <a:xfrm>
            <a:off x="4617720" y="1371600"/>
            <a:ext cx="4160520" cy="365760"/>
          </a:xfrm>
          <a:prstGeom prst="rect">
            <a:avLst/>
          </a:prstGeom>
          <a:solidFill>
            <a:srgbClr val="111827"/>
          </a:solidFill>
          <a:ln w="12700">
            <a:solidFill>
              <a:srgbClr val="111827"/>
            </a:solidFill>
            <a:prstDash val="solid"/>
          </a:ln>
        </p:spPr>
      </p:sp>
      <p:sp>
        <p:nvSpPr>
          <p:cNvPr id="7" name="Text 5"/>
          <p:cNvSpPr/>
          <p:nvPr/>
        </p:nvSpPr>
        <p:spPr>
          <a:xfrm>
            <a:off x="4754880" y="1371600"/>
            <a:ext cx="40233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ADMIN  (7 funzionalità)</a:t>
            </a:r>
            <a:endParaRPr lang="en-US" sz="1300" dirty="0"/>
          </a:p>
        </p:txBody>
      </p:sp>
      <p:pic>
        <p:nvPicPr>
          <p:cNvPr id="8" name="Image 0" descr="preencoded.png">    </p:cNvPr>
          <p:cNvPicPr>
            <a:picLocks noChangeAspect="1"/>
          </p:cNvPicPr>
          <p:nvPr/>
        </p:nvPicPr>
        <p:blipFill>
          <a:blip r:embed="rId1"/>
          <a:stretch>
            <a:fillRect/>
          </a:stretch>
        </p:blipFill>
        <p:spPr>
          <a:xfrm>
            <a:off x="502920" y="1920240"/>
            <a:ext cx="274320" cy="274320"/>
          </a:xfrm>
          <a:prstGeom prst="rect">
            <a:avLst/>
          </a:prstGeom>
        </p:spPr>
      </p:pic>
      <p:sp>
        <p:nvSpPr>
          <p:cNvPr id="9" name="Text 6"/>
          <p:cNvSpPr/>
          <p:nvPr/>
        </p:nvSpPr>
        <p:spPr>
          <a:xfrm>
            <a:off x="868680" y="187452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Registrazione + Login JWT</a:t>
            </a:r>
            <a:endParaRPr lang="en-US" sz="1100" dirty="0"/>
          </a:p>
        </p:txBody>
      </p:sp>
      <p:pic>
        <p:nvPicPr>
          <p:cNvPr id="10" name="Image 1" descr="preencoded.png">    </p:cNvPr>
          <p:cNvPicPr>
            <a:picLocks noChangeAspect="1"/>
          </p:cNvPicPr>
          <p:nvPr/>
        </p:nvPicPr>
        <p:blipFill>
          <a:blip r:embed="rId2"/>
          <a:stretch>
            <a:fillRect/>
          </a:stretch>
        </p:blipFill>
        <p:spPr>
          <a:xfrm>
            <a:off x="502920" y="2331720"/>
            <a:ext cx="274320" cy="274320"/>
          </a:xfrm>
          <a:prstGeom prst="rect">
            <a:avLst/>
          </a:prstGeom>
        </p:spPr>
      </p:pic>
      <p:sp>
        <p:nvSpPr>
          <p:cNvPr id="11" name="Text 7"/>
          <p:cNvSpPr/>
          <p:nvPr/>
        </p:nvSpPr>
        <p:spPr>
          <a:xfrm>
            <a:off x="868680" y="228600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Visualizzazione partite (filtri)</a:t>
            </a:r>
            <a:endParaRPr lang="en-US" sz="1100" dirty="0"/>
          </a:p>
        </p:txBody>
      </p:sp>
      <p:pic>
        <p:nvPicPr>
          <p:cNvPr id="12" name="Image 2" descr="preencoded.png">    </p:cNvPr>
          <p:cNvPicPr>
            <a:picLocks noChangeAspect="1"/>
          </p:cNvPicPr>
          <p:nvPr/>
        </p:nvPicPr>
        <p:blipFill>
          <a:blip r:embed="rId3"/>
          <a:stretch>
            <a:fillRect/>
          </a:stretch>
        </p:blipFill>
        <p:spPr>
          <a:xfrm>
            <a:off x="502920" y="2743200"/>
            <a:ext cx="274320" cy="274320"/>
          </a:xfrm>
          <a:prstGeom prst="rect">
            <a:avLst/>
          </a:prstGeom>
        </p:spPr>
      </p:pic>
      <p:sp>
        <p:nvSpPr>
          <p:cNvPr id="13" name="Text 8"/>
          <p:cNvSpPr/>
          <p:nvPr/>
        </p:nvSpPr>
        <p:spPr>
          <a:xfrm>
            <a:off x="868680" y="269748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Acquisto biglietto con posto numerato</a:t>
            </a:r>
            <a:endParaRPr lang="en-US" sz="1100" dirty="0"/>
          </a:p>
        </p:txBody>
      </p:sp>
      <p:pic>
        <p:nvPicPr>
          <p:cNvPr id="14" name="Image 3" descr="preencoded.png">    </p:cNvPr>
          <p:cNvPicPr>
            <a:picLocks noChangeAspect="1"/>
          </p:cNvPicPr>
          <p:nvPr/>
        </p:nvPicPr>
        <p:blipFill>
          <a:blip r:embed="rId4"/>
          <a:stretch>
            <a:fillRect/>
          </a:stretch>
        </p:blipFill>
        <p:spPr>
          <a:xfrm>
            <a:off x="502920" y="3154680"/>
            <a:ext cx="274320" cy="274320"/>
          </a:xfrm>
          <a:prstGeom prst="rect">
            <a:avLst/>
          </a:prstGeom>
        </p:spPr>
      </p:pic>
      <p:sp>
        <p:nvSpPr>
          <p:cNvPr id="15" name="Text 9"/>
          <p:cNvSpPr/>
          <p:nvPr/>
        </p:nvSpPr>
        <p:spPr>
          <a:xfrm>
            <a:off x="868680" y="310896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Applicazione codici promozionali</a:t>
            </a:r>
            <a:endParaRPr lang="en-US" sz="1100" dirty="0"/>
          </a:p>
        </p:txBody>
      </p:sp>
      <p:pic>
        <p:nvPicPr>
          <p:cNvPr id="16" name="Image 4" descr="preencoded.png">    </p:cNvPr>
          <p:cNvPicPr>
            <a:picLocks noChangeAspect="1"/>
          </p:cNvPicPr>
          <p:nvPr/>
        </p:nvPicPr>
        <p:blipFill>
          <a:blip r:embed="rId5"/>
          <a:stretch>
            <a:fillRect/>
          </a:stretch>
        </p:blipFill>
        <p:spPr>
          <a:xfrm>
            <a:off x="502920" y="3566160"/>
            <a:ext cx="274320" cy="274320"/>
          </a:xfrm>
          <a:prstGeom prst="rect">
            <a:avLst/>
          </a:prstGeom>
        </p:spPr>
      </p:pic>
      <p:sp>
        <p:nvSpPr>
          <p:cNvPr id="17" name="Text 10"/>
          <p:cNvSpPr/>
          <p:nvPr/>
        </p:nvSpPr>
        <p:spPr>
          <a:xfrm>
            <a:off x="868680" y="352044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Sottoscrizione abbonamenti stagionali</a:t>
            </a:r>
            <a:endParaRPr lang="en-US" sz="1100" dirty="0"/>
          </a:p>
        </p:txBody>
      </p:sp>
      <p:pic>
        <p:nvPicPr>
          <p:cNvPr id="18" name="Image 5" descr="preencoded.png">    </p:cNvPr>
          <p:cNvPicPr>
            <a:picLocks noChangeAspect="1"/>
          </p:cNvPicPr>
          <p:nvPr/>
        </p:nvPicPr>
        <p:blipFill>
          <a:blip r:embed="rId6"/>
          <a:stretch>
            <a:fillRect/>
          </a:stretch>
        </p:blipFill>
        <p:spPr>
          <a:xfrm>
            <a:off x="502920" y="3977640"/>
            <a:ext cx="274320" cy="274320"/>
          </a:xfrm>
          <a:prstGeom prst="rect">
            <a:avLst/>
          </a:prstGeom>
        </p:spPr>
      </p:pic>
      <p:sp>
        <p:nvSpPr>
          <p:cNvPr id="19" name="Text 11"/>
          <p:cNvSpPr/>
          <p:nvPr/>
        </p:nvSpPr>
        <p:spPr>
          <a:xfrm>
            <a:off x="868680" y="393192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Rinnovo abbonamento stagione successiva</a:t>
            </a:r>
            <a:endParaRPr lang="en-US" sz="1100" dirty="0"/>
          </a:p>
        </p:txBody>
      </p:sp>
      <p:pic>
        <p:nvPicPr>
          <p:cNvPr id="20" name="Image 6" descr="preencoded.png">    </p:cNvPr>
          <p:cNvPicPr>
            <a:picLocks noChangeAspect="1"/>
          </p:cNvPicPr>
          <p:nvPr/>
        </p:nvPicPr>
        <p:blipFill>
          <a:blip r:embed="rId7"/>
          <a:stretch>
            <a:fillRect/>
          </a:stretch>
        </p:blipFill>
        <p:spPr>
          <a:xfrm>
            <a:off x="502920" y="4389120"/>
            <a:ext cx="274320" cy="274320"/>
          </a:xfrm>
          <a:prstGeom prst="rect">
            <a:avLst/>
          </a:prstGeom>
        </p:spPr>
      </p:pic>
      <p:sp>
        <p:nvSpPr>
          <p:cNvPr id="21" name="Text 12"/>
          <p:cNvSpPr/>
          <p:nvPr/>
        </p:nvSpPr>
        <p:spPr>
          <a:xfrm>
            <a:off x="868680" y="434340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Storico personale dei biglietti</a:t>
            </a:r>
            <a:endParaRPr lang="en-US" sz="1100" dirty="0"/>
          </a:p>
        </p:txBody>
      </p:sp>
      <p:pic>
        <p:nvPicPr>
          <p:cNvPr id="22" name="Image 7" descr="preencoded.png">    </p:cNvPr>
          <p:cNvPicPr>
            <a:picLocks noChangeAspect="1"/>
          </p:cNvPicPr>
          <p:nvPr/>
        </p:nvPicPr>
        <p:blipFill>
          <a:blip r:embed="rId8"/>
          <a:stretch>
            <a:fillRect/>
          </a:stretch>
        </p:blipFill>
        <p:spPr>
          <a:xfrm>
            <a:off x="4754880" y="1920240"/>
            <a:ext cx="274320" cy="274320"/>
          </a:xfrm>
          <a:prstGeom prst="rect">
            <a:avLst/>
          </a:prstGeom>
        </p:spPr>
      </p:pic>
      <p:sp>
        <p:nvSpPr>
          <p:cNvPr id="23" name="Text 13"/>
          <p:cNvSpPr/>
          <p:nvPr/>
        </p:nvSpPr>
        <p:spPr>
          <a:xfrm>
            <a:off x="5120640" y="187452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Dashboard statistiche vendite</a:t>
            </a:r>
            <a:endParaRPr lang="en-US" sz="1100" dirty="0"/>
          </a:p>
        </p:txBody>
      </p:sp>
      <p:pic>
        <p:nvPicPr>
          <p:cNvPr id="24" name="Image 8" descr="preencoded.png">    </p:cNvPr>
          <p:cNvPicPr>
            <a:picLocks noChangeAspect="1"/>
          </p:cNvPicPr>
          <p:nvPr/>
        </p:nvPicPr>
        <p:blipFill>
          <a:blip r:embed="rId9"/>
          <a:stretch>
            <a:fillRect/>
          </a:stretch>
        </p:blipFill>
        <p:spPr>
          <a:xfrm>
            <a:off x="4754880" y="2331720"/>
            <a:ext cx="274320" cy="274320"/>
          </a:xfrm>
          <a:prstGeom prst="rect">
            <a:avLst/>
          </a:prstGeom>
        </p:spPr>
      </p:pic>
      <p:sp>
        <p:nvSpPr>
          <p:cNvPr id="25" name="Text 14"/>
          <p:cNvSpPr/>
          <p:nvPr/>
        </p:nvSpPr>
        <p:spPr>
          <a:xfrm>
            <a:off x="5120640" y="228600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CRUD completo delle partite</a:t>
            </a:r>
            <a:endParaRPr lang="en-US" sz="1100" dirty="0"/>
          </a:p>
        </p:txBody>
      </p:sp>
      <p:pic>
        <p:nvPicPr>
          <p:cNvPr id="26" name="Image 9" descr="preencoded.png">    </p:cNvPr>
          <p:cNvPicPr>
            <a:picLocks noChangeAspect="1"/>
          </p:cNvPicPr>
          <p:nvPr/>
        </p:nvPicPr>
        <p:blipFill>
          <a:blip r:embed="rId10"/>
          <a:stretch>
            <a:fillRect/>
          </a:stretch>
        </p:blipFill>
        <p:spPr>
          <a:xfrm>
            <a:off x="4754880" y="2743200"/>
            <a:ext cx="274320" cy="274320"/>
          </a:xfrm>
          <a:prstGeom prst="rect">
            <a:avLst/>
          </a:prstGeom>
        </p:spPr>
      </p:pic>
      <p:sp>
        <p:nvSpPr>
          <p:cNvPr id="27" name="Text 15"/>
          <p:cNvSpPr/>
          <p:nvPr/>
        </p:nvSpPr>
        <p:spPr>
          <a:xfrm>
            <a:off x="5120640" y="269748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Annullamento partita + invalidazione biglietti</a:t>
            </a:r>
            <a:endParaRPr lang="en-US" sz="1100" dirty="0"/>
          </a:p>
        </p:txBody>
      </p:sp>
      <p:pic>
        <p:nvPicPr>
          <p:cNvPr id="28" name="Image 10" descr="preencoded.png">    </p:cNvPr>
          <p:cNvPicPr>
            <a:picLocks noChangeAspect="1"/>
          </p:cNvPicPr>
          <p:nvPr/>
        </p:nvPicPr>
        <p:blipFill>
          <a:blip r:embed="rId11"/>
          <a:stretch>
            <a:fillRect/>
          </a:stretch>
        </p:blipFill>
        <p:spPr>
          <a:xfrm>
            <a:off x="4754880" y="3154680"/>
            <a:ext cx="274320" cy="274320"/>
          </a:xfrm>
          <a:prstGeom prst="rect">
            <a:avLst/>
          </a:prstGeom>
        </p:spPr>
      </p:pic>
      <p:sp>
        <p:nvSpPr>
          <p:cNvPr id="29" name="Text 16"/>
          <p:cNvSpPr/>
          <p:nvPr/>
        </p:nvSpPr>
        <p:spPr>
          <a:xfrm>
            <a:off x="5120640" y="310896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Creazione e gestione promozioni</a:t>
            </a:r>
            <a:endParaRPr lang="en-US" sz="1100" dirty="0"/>
          </a:p>
        </p:txBody>
      </p:sp>
      <p:pic>
        <p:nvPicPr>
          <p:cNvPr id="30" name="Image 11" descr="preencoded.png">    </p:cNvPr>
          <p:cNvPicPr>
            <a:picLocks noChangeAspect="1"/>
          </p:cNvPicPr>
          <p:nvPr/>
        </p:nvPicPr>
        <p:blipFill>
          <a:blip r:embed="rId12"/>
          <a:stretch>
            <a:fillRect/>
          </a:stretch>
        </p:blipFill>
        <p:spPr>
          <a:xfrm>
            <a:off x="4754880" y="3566160"/>
            <a:ext cx="274320" cy="274320"/>
          </a:xfrm>
          <a:prstGeom prst="rect">
            <a:avLst/>
          </a:prstGeom>
        </p:spPr>
      </p:pic>
      <p:sp>
        <p:nvSpPr>
          <p:cNvPr id="31" name="Text 17"/>
          <p:cNvSpPr/>
          <p:nvPr/>
        </p:nvSpPr>
        <p:spPr>
          <a:xfrm>
            <a:off x="5120640" y="352044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Generatore codici promo random</a:t>
            </a:r>
            <a:endParaRPr lang="en-US" sz="1100" dirty="0"/>
          </a:p>
        </p:txBody>
      </p:sp>
      <p:pic>
        <p:nvPicPr>
          <p:cNvPr id="32" name="Image 12" descr="preencoded.png">    </p:cNvPr>
          <p:cNvPicPr>
            <a:picLocks noChangeAspect="1"/>
          </p:cNvPicPr>
          <p:nvPr/>
        </p:nvPicPr>
        <p:blipFill>
          <a:blip r:embed="rId13"/>
          <a:stretch>
            <a:fillRect/>
          </a:stretch>
        </p:blipFill>
        <p:spPr>
          <a:xfrm>
            <a:off x="4754880" y="3977640"/>
            <a:ext cx="274320" cy="274320"/>
          </a:xfrm>
          <a:prstGeom prst="rect">
            <a:avLst/>
          </a:prstGeom>
        </p:spPr>
      </p:pic>
      <p:sp>
        <p:nvSpPr>
          <p:cNvPr id="33" name="Text 18"/>
          <p:cNvSpPr/>
          <p:nvPr/>
        </p:nvSpPr>
        <p:spPr>
          <a:xfrm>
            <a:off x="5120640" y="393192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Gestione settori dello stadio</a:t>
            </a:r>
            <a:endParaRPr lang="en-US" sz="1100" dirty="0"/>
          </a:p>
        </p:txBody>
      </p:sp>
      <p:pic>
        <p:nvPicPr>
          <p:cNvPr id="34" name="Image 13" descr="preencoded.png">    </p:cNvPr>
          <p:cNvPicPr>
            <a:picLocks noChangeAspect="1"/>
          </p:cNvPicPr>
          <p:nvPr/>
        </p:nvPicPr>
        <p:blipFill>
          <a:blip r:embed="rId14"/>
          <a:stretch>
            <a:fillRect/>
          </a:stretch>
        </p:blipFill>
        <p:spPr>
          <a:xfrm>
            <a:off x="4754880" y="4389120"/>
            <a:ext cx="274320" cy="274320"/>
          </a:xfrm>
          <a:prstGeom prst="rect">
            <a:avLst/>
          </a:prstGeom>
        </p:spPr>
      </p:pic>
      <p:sp>
        <p:nvSpPr>
          <p:cNvPr id="35" name="Text 19"/>
          <p:cNvSpPr/>
          <p:nvPr/>
        </p:nvSpPr>
        <p:spPr>
          <a:xfrm>
            <a:off x="5120640" y="4343400"/>
            <a:ext cx="365760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Autorizzazione role-based (@PreAuthorize)</a:t>
            </a:r>
            <a:endParaRPr lang="en-US" sz="1100" dirty="0"/>
          </a:p>
        </p:txBody>
      </p:sp>
      <p:sp>
        <p:nvSpPr>
          <p:cNvPr id="36" name="Text 20"/>
          <p:cNvSpPr/>
          <p:nvPr/>
        </p:nvSpPr>
        <p:spPr>
          <a:xfrm>
            <a:off x="365760" y="4823460"/>
            <a:ext cx="54864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TicketStadio · Ingegneria del Software</a:t>
            </a:r>
            <a:endParaRPr lang="en-US" sz="900" dirty="0"/>
          </a:p>
        </p:txBody>
      </p:sp>
      <p:sp>
        <p:nvSpPr>
          <p:cNvPr id="37" name="Text 21"/>
          <p:cNvSpPr/>
          <p:nvPr/>
        </p:nvSpPr>
        <p:spPr>
          <a:xfrm>
            <a:off x="8229600" y="4823460"/>
            <a:ext cx="54864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365760" y="320040"/>
            <a:ext cx="7315200" cy="50292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Dettaglio: acquisto biglietto + feedback</a:t>
            </a:r>
            <a:endParaRPr lang="en-US" sz="2800" dirty="0"/>
          </a:p>
        </p:txBody>
      </p:sp>
      <p:sp>
        <p:nvSpPr>
          <p:cNvPr id="3" name="Text 1"/>
          <p:cNvSpPr/>
          <p:nvPr/>
        </p:nvSpPr>
        <p:spPr>
          <a:xfrm>
            <a:off x="365760" y="841248"/>
            <a:ext cx="8229600" cy="27432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Funzionalità rappresentativa e considerazioni finali</a:t>
            </a:r>
            <a:endParaRPr lang="en-US" sz="1300" dirty="0"/>
          </a:p>
        </p:txBody>
      </p:sp>
      <p:sp>
        <p:nvSpPr>
          <p:cNvPr id="4" name="Shape 2"/>
          <p:cNvSpPr/>
          <p:nvPr/>
        </p:nvSpPr>
        <p:spPr>
          <a:xfrm>
            <a:off x="365760" y="1371600"/>
            <a:ext cx="4572000" cy="3108960"/>
          </a:xfrm>
          <a:prstGeom prst="roundRect">
            <a:avLst>
              <a:gd name="adj" fmla="val 2353"/>
            </a:avLst>
          </a:prstGeom>
          <a:solidFill>
            <a:srgbClr val="FFFFFF"/>
          </a:solidFill>
          <a:ln w="9525">
            <a:solidFill>
              <a:srgbClr val="D1D5DB"/>
            </a:solidFill>
            <a:prstDash val="solid"/>
          </a:ln>
          <a:effectLst>
            <a:outerShdw sx="100000" sy="100000" kx="0" ky="0" algn="bl" rotWithShape="0" blurRad="101600" dist="25400" dir="54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548640" y="1508760"/>
            <a:ext cx="365760" cy="365760"/>
          </a:xfrm>
          <a:prstGeom prst="rect">
            <a:avLst/>
          </a:prstGeom>
        </p:spPr>
      </p:pic>
      <p:sp>
        <p:nvSpPr>
          <p:cNvPr id="6" name="Text 3"/>
          <p:cNvSpPr/>
          <p:nvPr/>
        </p:nvSpPr>
        <p:spPr>
          <a:xfrm>
            <a:off x="1005840" y="1508760"/>
            <a:ext cx="3657600" cy="36576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Acquisto biglietto</a:t>
            </a:r>
            <a:endParaRPr lang="en-US" sz="1400" dirty="0"/>
          </a:p>
        </p:txBody>
      </p:sp>
      <p:sp>
        <p:nvSpPr>
          <p:cNvPr id="7" name="Text 4"/>
          <p:cNvSpPr/>
          <p:nvPr/>
        </p:nvSpPr>
        <p:spPr>
          <a:xfrm>
            <a:off x="548640" y="1965960"/>
            <a:ext cx="4297680" cy="274320"/>
          </a:xfrm>
          <a:prstGeom prst="rect">
            <a:avLst/>
          </a:prstGeom>
          <a:noFill/>
          <a:ln/>
        </p:spPr>
        <p:txBody>
          <a:bodyPr wrap="square" lIns="0" tIns="0" rIns="0" bIns="0" rtlCol="0" anchor="ctr"/>
          <a:lstStyle/>
          <a:p>
            <a:pPr indent="0" marL="0">
              <a:buNone/>
            </a:pPr>
            <a:r>
              <a:rPr lang="en-US" sz="1000" b="1" dirty="0">
                <a:solidFill>
                  <a:srgbClr val="1A7A4A"/>
                </a:solidFill>
                <a:latin typeface="Calibri" pitchFamily="34" charset="0"/>
                <a:ea typeface="Calibri" pitchFamily="34" charset="-122"/>
                <a:cs typeface="Calibri" pitchFamily="34" charset="-120"/>
              </a:rPr>
              <a:t>Flow tecnico (BigliettoService.acquista):</a:t>
            </a:r>
            <a:endParaRPr lang="en-US" sz="1000" dirty="0"/>
          </a:p>
        </p:txBody>
      </p:sp>
      <p:sp>
        <p:nvSpPr>
          <p:cNvPr id="8" name="Text 5"/>
          <p:cNvSpPr/>
          <p:nvPr/>
        </p:nvSpPr>
        <p:spPr>
          <a:xfrm>
            <a:off x="548640" y="2194560"/>
            <a:ext cx="4297680" cy="2286000"/>
          </a:xfrm>
          <a:prstGeom prst="rect">
            <a:avLst/>
          </a:prstGeom>
          <a:noFill/>
          <a:ln/>
        </p:spPr>
        <p:txBody>
          <a:bodyPr wrap="square" rtlCol="0" anchor="ctr"/>
          <a:lstStyle/>
          <a:p>
            <a:pPr indent="0" marL="0">
              <a:spcAft>
                <a:spcPts val="300"/>
              </a:spcAft>
              <a:buNone/>
            </a:pPr>
            <a:r>
              <a:rPr lang="en-US" sz="1000" dirty="0">
                <a:solidFill>
                  <a:srgbClr val="374151"/>
                </a:solidFill>
                <a:latin typeface="Calibri" pitchFamily="34" charset="0"/>
                <a:ea typeface="Calibri" pitchFamily="34" charset="-122"/>
                <a:cs typeface="Calibri" pitchFamily="34" charset="-120"/>
              </a:rPr>
              <a:t>1. JwtFilter valida il token e popola SecurityContext</a:t>
            </a:r>
            <a:endParaRPr lang="en-US" sz="1000" dirty="0"/>
          </a:p>
          <a:p>
            <a:pPr indent="0" marL="0">
              <a:spcAft>
                <a:spcPts val="300"/>
              </a:spcAft>
              <a:buNone/>
            </a:pPr>
            <a:r>
              <a:rPr lang="en-US" sz="1000" dirty="0">
                <a:solidFill>
                  <a:srgbClr val="374151"/>
                </a:solidFill>
                <a:latin typeface="Calibri" pitchFamily="34" charset="0"/>
                <a:ea typeface="Calibri" pitchFamily="34" charset="-122"/>
                <a:cs typeface="Calibri" pitchFamily="34" charset="-120"/>
              </a:rPr>
              <a:t>2. @PreAuthorize verifica autenticazione</a:t>
            </a:r>
            <a:endParaRPr lang="en-US" sz="1000" dirty="0"/>
          </a:p>
          <a:p>
            <a:pPr indent="0" marL="0">
              <a:spcAft>
                <a:spcPts val="300"/>
              </a:spcAft>
              <a:buNone/>
            </a:pPr>
            <a:r>
              <a:rPr lang="en-US" sz="1000" dirty="0">
                <a:solidFill>
                  <a:srgbClr val="374151"/>
                </a:solidFill>
                <a:latin typeface="Calibri" pitchFamily="34" charset="0"/>
                <a:ea typeface="Calibri" pitchFamily="34" charset="-122"/>
                <a:cs typeface="Calibri" pitchFamily="34" charset="-120"/>
              </a:rPr>
              <a:t>3. @Valid valida il body della request</a:t>
            </a:r>
            <a:endParaRPr lang="en-US" sz="1000" dirty="0"/>
          </a:p>
          <a:p>
            <a:pPr indent="0" marL="0">
              <a:spcAft>
                <a:spcPts val="300"/>
              </a:spcAft>
              <a:buNone/>
            </a:pPr>
            <a:r>
              <a:rPr lang="en-US" sz="1000" dirty="0">
                <a:solidFill>
                  <a:srgbClr val="374151"/>
                </a:solidFill>
                <a:latin typeface="Calibri" pitchFamily="34" charset="0"/>
                <a:ea typeface="Calibri" pitchFamily="34" charset="-122"/>
                <a:cs typeface="Calibri" pitchFamily="34" charset="-120"/>
              </a:rPr>
              <a:t>4. Service apre transazione (@Transactional)</a:t>
            </a:r>
            <a:endParaRPr lang="en-US" sz="1000" dirty="0"/>
          </a:p>
          <a:p>
            <a:pPr indent="0" marL="0">
              <a:spcAft>
                <a:spcPts val="300"/>
              </a:spcAft>
              <a:buNone/>
            </a:pPr>
            <a:r>
              <a:rPr lang="en-US" sz="1000" dirty="0">
                <a:solidFill>
                  <a:srgbClr val="374151"/>
                </a:solidFill>
                <a:latin typeface="Calibri" pitchFamily="34" charset="0"/>
                <a:ea typeface="Calibri" pitchFamily="34" charset="-122"/>
                <a:cs typeface="Calibri" pitchFamily="34" charset="-120"/>
              </a:rPr>
              <a:t>5. Controllo disponibilità posto (existsByPartitaAndPosto)</a:t>
            </a:r>
            <a:endParaRPr lang="en-US" sz="1000" dirty="0"/>
          </a:p>
          <a:p>
            <a:pPr indent="0" marL="0">
              <a:spcAft>
                <a:spcPts val="300"/>
              </a:spcAft>
              <a:buNone/>
            </a:pPr>
            <a:r>
              <a:rPr lang="en-US" sz="1000" dirty="0">
                <a:solidFill>
                  <a:srgbClr val="374151"/>
                </a:solidFill>
                <a:latin typeface="Calibri" pitchFamily="34" charset="0"/>
                <a:ea typeface="Calibri" pitchFamily="34" charset="-122"/>
                <a:cs typeface="Calibri" pitchFamily="34" charset="-120"/>
              </a:rPr>
              <a:t>6. Applicazione promo (se presente e valida)</a:t>
            </a:r>
            <a:endParaRPr lang="en-US" sz="1000" dirty="0"/>
          </a:p>
          <a:p>
            <a:pPr indent="0" marL="0">
              <a:spcAft>
                <a:spcPts val="300"/>
              </a:spcAft>
              <a:buNone/>
            </a:pPr>
            <a:r>
              <a:rPr lang="en-US" sz="1000" dirty="0">
                <a:solidFill>
                  <a:srgbClr val="374151"/>
                </a:solidFill>
                <a:latin typeface="Calibri" pitchFamily="34" charset="0"/>
                <a:ea typeface="Calibri" pitchFamily="34" charset="-122"/>
                <a:cs typeface="Calibri" pitchFamily="34" charset="-120"/>
              </a:rPr>
              <a:t>7. INSERT biglietto + INSERT pagamento atomici</a:t>
            </a:r>
            <a:endParaRPr lang="en-US" sz="1000" dirty="0"/>
          </a:p>
          <a:p>
            <a:pPr indent="0" marL="0">
              <a:spcAft>
                <a:spcPts val="300"/>
              </a:spcAft>
              <a:buNone/>
            </a:pPr>
            <a:r>
              <a:rPr lang="en-US" sz="1000" b="1" dirty="0">
                <a:solidFill>
                  <a:srgbClr val="DC2626"/>
                </a:solidFill>
                <a:latin typeface="Calibri" pitchFamily="34" charset="0"/>
                <a:ea typeface="Calibri" pitchFamily="34" charset="-122"/>
                <a:cs typeface="Calibri" pitchFamily="34" charset="-120"/>
              </a:rPr>
              <a:t>8. Vincolo UNIQUE DB blocca race condition → 409</a:t>
            </a:r>
            <a:endParaRPr lang="en-US" sz="1000" dirty="0"/>
          </a:p>
        </p:txBody>
      </p:sp>
      <p:sp>
        <p:nvSpPr>
          <p:cNvPr id="9" name="Shape 6"/>
          <p:cNvSpPr/>
          <p:nvPr/>
        </p:nvSpPr>
        <p:spPr>
          <a:xfrm>
            <a:off x="5120640" y="1371600"/>
            <a:ext cx="3657600" cy="3108960"/>
          </a:xfrm>
          <a:prstGeom prst="roundRect">
            <a:avLst>
              <a:gd name="adj" fmla="val 2353"/>
            </a:avLst>
          </a:prstGeom>
          <a:solidFill>
            <a:srgbClr val="1A7A4A"/>
          </a:solidFill>
          <a:ln w="12700">
            <a:solidFill>
              <a:srgbClr val="1A7A4A"/>
            </a:solidFill>
            <a:prstDash val="solid"/>
          </a:ln>
          <a:effectLst>
            <a:outerShdw sx="100000" sy="100000" kx="0" ky="0" algn="bl" rotWithShape="0" blurRad="101600" dist="25400" dir="5400000">
              <a:srgbClr val="000000">
                <a:alpha val="10000"/>
              </a:srgbClr>
            </a:outerShdw>
          </a:effectLst>
        </p:spPr>
      </p:sp>
      <p:pic>
        <p:nvPicPr>
          <p:cNvPr id="10" name="Image 1" descr="preencoded.png">    </p:cNvPr>
          <p:cNvPicPr>
            <a:picLocks noChangeAspect="1"/>
          </p:cNvPicPr>
          <p:nvPr/>
        </p:nvPicPr>
        <p:blipFill>
          <a:blip r:embed="rId2"/>
          <a:stretch>
            <a:fillRect/>
          </a:stretch>
        </p:blipFill>
        <p:spPr>
          <a:xfrm>
            <a:off x="5303520" y="1508760"/>
            <a:ext cx="365760" cy="365760"/>
          </a:xfrm>
          <a:prstGeom prst="rect">
            <a:avLst/>
          </a:prstGeom>
        </p:spPr>
      </p:pic>
      <p:sp>
        <p:nvSpPr>
          <p:cNvPr id="11" name="Text 7"/>
          <p:cNvSpPr/>
          <p:nvPr/>
        </p:nvSpPr>
        <p:spPr>
          <a:xfrm>
            <a:off x="5760720" y="1508760"/>
            <a:ext cx="28346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Feedback esperienza</a:t>
            </a:r>
            <a:endParaRPr lang="en-US" sz="1400" dirty="0"/>
          </a:p>
        </p:txBody>
      </p:sp>
      <p:sp>
        <p:nvSpPr>
          <p:cNvPr id="12" name="Text 8"/>
          <p:cNvSpPr/>
          <p:nvPr/>
        </p:nvSpPr>
        <p:spPr>
          <a:xfrm>
            <a:off x="5303520" y="1965960"/>
            <a:ext cx="3291840" cy="2606040"/>
          </a:xfrm>
          <a:prstGeom prst="rect">
            <a:avLst/>
          </a:prstGeom>
          <a:noFill/>
          <a:ln/>
        </p:spPr>
        <p:txBody>
          <a:bodyPr wrap="square" rtlCol="0" anchor="ctr"/>
          <a:lstStyle/>
          <a:p>
            <a:pPr indent="0" marL="0">
              <a:spcAft>
                <a:spcPts val="200"/>
              </a:spcAft>
              <a:buNone/>
            </a:pPr>
            <a:r>
              <a:rPr lang="en-US" sz="1000" b="1" dirty="0">
                <a:solidFill>
                  <a:srgbClr val="E8F5EE"/>
                </a:solidFill>
                <a:latin typeface="Calibri" pitchFamily="34" charset="0"/>
                <a:ea typeface="Calibri" pitchFamily="34" charset="-122"/>
                <a:cs typeface="Calibri" pitchFamily="34" charset="-120"/>
              </a:rPr>
              <a:t>Cosa ha funzionato</a:t>
            </a:r>
            <a:endParaRPr lang="en-US" sz="1000" dirty="0"/>
          </a:p>
          <a:p>
            <a:pPr indent="0" marL="0">
              <a:spcAft>
                <a:spcPts val="200"/>
              </a:spcAft>
              <a:buNone/>
            </a:pPr>
            <a:r>
              <a:rPr lang="en-US" sz="1000" dirty="0">
                <a:solidFill>
                  <a:srgbClr val="FFFFFF"/>
                </a:solidFill>
                <a:latin typeface="Calibri" pitchFamily="34" charset="0"/>
                <a:ea typeface="Calibri" pitchFamily="34" charset="-122"/>
                <a:cs typeface="Calibri" pitchFamily="34" charset="-120"/>
              </a:rPr>
              <a:t>Iniziare con lo schema DB ha guidato l'intera architettura. Trello ha evitato lo scope creep.</a:t>
            </a:r>
            <a:endParaRPr lang="en-US" sz="1000" dirty="0"/>
          </a:p>
          <a:p>
            <a:pPr indent="0" marL="0">
              <a:spcAft>
                <a:spcPts val="200"/>
              </a:spcAft>
              <a:buNone/>
            </a:pPr>
            <a:endParaRPr lang="en-US" sz="1000" dirty="0"/>
          </a:p>
          <a:p>
            <a:pPr indent="0" marL="0">
              <a:spcAft>
                <a:spcPts val="200"/>
              </a:spcAft>
              <a:buNone/>
            </a:pPr>
            <a:r>
              <a:rPr lang="en-US" sz="1000" b="1" dirty="0">
                <a:solidFill>
                  <a:srgbClr val="E8F5EE"/>
                </a:solidFill>
                <a:latin typeface="Calibri" pitchFamily="34" charset="0"/>
                <a:ea typeface="Calibri" pitchFamily="34" charset="-122"/>
                <a:cs typeface="Calibri" pitchFamily="34" charset="-120"/>
              </a:rPr>
              <a:t>Difficoltà incontrate</a:t>
            </a:r>
            <a:endParaRPr lang="en-US" sz="1000" dirty="0"/>
          </a:p>
          <a:p>
            <a:pPr indent="0" marL="0">
              <a:spcAft>
                <a:spcPts val="200"/>
              </a:spcAft>
              <a:buNone/>
            </a:pPr>
            <a:r>
              <a:rPr lang="en-US" sz="1000" dirty="0">
                <a:solidFill>
                  <a:srgbClr val="FFFFFF"/>
                </a:solidFill>
                <a:latin typeface="Calibri" pitchFamily="34" charset="0"/>
                <a:ea typeface="Calibri" pitchFamily="34" charset="-122"/>
                <a:cs typeface="Calibri" pitchFamily="34" charset="-120"/>
              </a:rPr>
              <a:t>Bilanciare REST e UX: alcune azioni naturali per l'utente non mappavano subito su una risorsa.</a:t>
            </a:r>
            <a:endParaRPr lang="en-US" sz="1000" dirty="0"/>
          </a:p>
          <a:p>
            <a:pPr indent="0" marL="0">
              <a:spcAft>
                <a:spcPts val="200"/>
              </a:spcAft>
              <a:buNone/>
            </a:pPr>
            <a:endParaRPr lang="en-US" sz="1000" dirty="0"/>
          </a:p>
          <a:p>
            <a:pPr indent="0" marL="0">
              <a:spcAft>
                <a:spcPts val="200"/>
              </a:spcAft>
              <a:buNone/>
            </a:pPr>
            <a:r>
              <a:rPr lang="en-US" sz="1000" b="1" dirty="0">
                <a:solidFill>
                  <a:srgbClr val="E8F5EE"/>
                </a:solidFill>
                <a:latin typeface="Calibri" pitchFamily="34" charset="0"/>
                <a:ea typeface="Calibri" pitchFamily="34" charset="-122"/>
                <a:cs typeface="Calibri" pitchFamily="34" charset="-120"/>
              </a:rPr>
              <a:t>Cosa farei diversamente</a:t>
            </a:r>
            <a:endParaRPr lang="en-US" sz="1000" dirty="0"/>
          </a:p>
          <a:p>
            <a:pPr indent="0" marL="0">
              <a:spcAft>
                <a:spcPts val="200"/>
              </a:spcAft>
              <a:buNone/>
            </a:pPr>
            <a:r>
              <a:rPr lang="en-US" sz="1000" dirty="0">
                <a:solidFill>
                  <a:srgbClr val="FFFFFF"/>
                </a:solidFill>
                <a:latin typeface="Calibri" pitchFamily="34" charset="0"/>
                <a:ea typeface="Calibri" pitchFamily="34" charset="-122"/>
                <a:cs typeface="Calibri" pitchFamily="34" charset="-120"/>
              </a:rPr>
              <a:t>Iniziare prima i test (TDD). Aggiungere Liquibase per le migrazioni DB versionate.</a:t>
            </a:r>
            <a:endParaRPr lang="en-US" sz="1000" dirty="0"/>
          </a:p>
        </p:txBody>
      </p:sp>
      <p:sp>
        <p:nvSpPr>
          <p:cNvPr id="13" name="Shape 9"/>
          <p:cNvSpPr/>
          <p:nvPr/>
        </p:nvSpPr>
        <p:spPr>
          <a:xfrm>
            <a:off x="365760" y="4544568"/>
            <a:ext cx="8412480" cy="27432"/>
          </a:xfrm>
          <a:prstGeom prst="rect">
            <a:avLst/>
          </a:prstGeom>
          <a:solidFill>
            <a:srgbClr val="1A7A4A"/>
          </a:solidFill>
          <a:ln w="12700">
            <a:solidFill>
              <a:srgbClr val="1A7A4A"/>
            </a:solidFill>
            <a:prstDash val="solid"/>
          </a:ln>
        </p:spPr>
      </p:sp>
      <p:sp>
        <p:nvSpPr>
          <p:cNvPr id="14" name="Text 10"/>
          <p:cNvSpPr/>
          <p:nvPr/>
        </p:nvSpPr>
        <p:spPr>
          <a:xfrm>
            <a:off x="365760" y="4572000"/>
            <a:ext cx="8412480" cy="228600"/>
          </a:xfrm>
          <a:prstGeom prst="rect">
            <a:avLst/>
          </a:prstGeom>
          <a:noFill/>
          <a:ln/>
        </p:spPr>
        <p:txBody>
          <a:bodyPr wrap="square" lIns="0" tIns="0" rIns="0" bIns="0" rtlCol="0" anchor="ctr"/>
          <a:lstStyle/>
          <a:p>
            <a:pPr algn="ctr" indent="0" marL="0">
              <a:buNone/>
            </a:pPr>
            <a:r>
              <a:rPr lang="en-US" sz="1100" i="1" dirty="0">
                <a:solidFill>
                  <a:srgbClr val="111827"/>
                </a:solidFill>
                <a:latin typeface="Calibri" pitchFamily="34" charset="0"/>
                <a:ea typeface="Calibri" pitchFamily="34" charset="-122"/>
                <a:cs typeface="Calibri" pitchFamily="34" charset="-120"/>
              </a:rPr>
              <a:t>Grazie per l'attenzione  ·  github.com/giacomopanareo/ticketstadio  ·  Aperto a domande</a:t>
            </a:r>
            <a:endParaRPr lang="en-US" sz="1100" dirty="0"/>
          </a:p>
        </p:txBody>
      </p:sp>
      <p:sp>
        <p:nvSpPr>
          <p:cNvPr id="15" name="Text 11"/>
          <p:cNvSpPr/>
          <p:nvPr/>
        </p:nvSpPr>
        <p:spPr>
          <a:xfrm>
            <a:off x="365760" y="4823460"/>
            <a:ext cx="54864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TicketStadio · Ingegneria del Software</a:t>
            </a:r>
            <a:endParaRPr lang="en-US" sz="900" dirty="0"/>
          </a:p>
        </p:txBody>
      </p:sp>
      <p:sp>
        <p:nvSpPr>
          <p:cNvPr id="16" name="Text 12"/>
          <p:cNvSpPr/>
          <p:nvPr/>
        </p:nvSpPr>
        <p:spPr>
          <a:xfrm>
            <a:off x="8229600" y="4823460"/>
            <a:ext cx="548640" cy="22860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TicketStadio — Relazione progetto</dc:title>
  <dc:subject>PptxGenJS Presentation</dc:subject>
  <dc:creator>Giacomo Panareo</dc:creator>
  <cp:lastModifiedBy>Giacomo Panareo</cp:lastModifiedBy>
  <cp:revision>1</cp:revision>
  <dcterms:created xsi:type="dcterms:W3CDTF">2026-06-20T08:40:06Z</dcterms:created>
  <dcterms:modified xsi:type="dcterms:W3CDTF">2026-06-20T08:40:06Z</dcterms:modified>
</cp:coreProperties>
</file>